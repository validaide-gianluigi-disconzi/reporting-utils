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0A06FAB9-B52A-9982-A19E-2AB9A5B2B04E}">
          <p14:sldIdLst>
            <p14:sldId id="256"/>
            <p14:sldId id="257"/>
          </p14:sldIdLst>
        </p14:section>
        <p14:section name="WBSO" id="{D9C8F2CB-A0F9-7BA3-CFA2-BAF335316C2D}">
          <p14:sldIdLst>
            <p14:sldId id="258"/>
            <p14:sldId id="259"/>
          </p14:sldIdLst>
        </p14:section>
        <p14:section name="Validaide and WBSO" id="{F403BFD2-B6D7-BD9F-B834-74348ECBFF73}">
          <p14:sldIdLst>
            <p14:sldId id="260"/>
            <p14:sldId id="261"/>
          </p14:sldIdLst>
        </p14:section>
        <p14:section name="Reporting" id="{A6EAAF89-6CFA-0A39-9595-5B4899ADB382}">
          <p14:sldIdLst>
            <p14:sldId id="262"/>
            <p14:sldId id="263"/>
            <p14:sldId id="264"/>
          </p14:sldIdLst>
        </p14:section>
        <p14:section name="Results and handover" id="{1429C2B3-D0A7-3525-66FA-D9AE6DABF836}">
          <p14:sldIdLst>
            <p14:sldId id="265"/>
            <p14:sldId id="266"/>
          </p14:sldIdLst>
        </p14:section>
        <p14:section name="Close" id="{8B7BD2EB-2B47-0427-0972-603A96AF7BC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Hours</c:v>
                </c:pt>
              </c:strCache>
            </c:strRef>
          </c:tx>
          <c:spPr>
            <a:solidFill>
              <a:srgbClr val="008C83"/>
            </a:solidFill>
            <a:effectLst/>
          </c:spPr>
          <c:invertIfNegative val="0"/>
          <c:dLbls>
            <c:numFmt formatCode="#,##0" sourceLinked="0"/>
            <c:spPr>
              <a:noFill/>
              <a:ln>
                <a:noFill/>
              </a:ln>
              <a:effectLst/>
            </c:spPr>
            <c:txPr>
              <a:bodyPr/>
              <a:lstStyle/>
              <a:p>
                <a:pPr>
                  <a:defRPr sz="1000" b="0" i="0" u="none" strike="noStrike">
                    <a:solidFill>
                      <a:srgbClr val="1D1D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General</c:formatCode>
                <c:ptCount val="9"/>
                <c:pt idx="0">
                  <c:v>9</c:v>
                </c:pt>
                <c:pt idx="1">
                  <c:v>229.6</c:v>
                </c:pt>
                <c:pt idx="2">
                  <c:v>125.2</c:v>
                </c:pt>
                <c:pt idx="3">
                  <c:v>113.2</c:v>
                </c:pt>
                <c:pt idx="4">
                  <c:v>253.2</c:v>
                </c:pt>
                <c:pt idx="5">
                  <c:v>255</c:v>
                </c:pt>
                <c:pt idx="6">
                  <c:v>14.4</c:v>
                </c:pt>
                <c:pt idx="7">
                  <c:v>187.4</c:v>
                </c:pt>
                <c:pt idx="8">
                  <c:v>29.6</c:v>
                </c:pt>
              </c:numCache>
            </c:numRef>
          </c:val>
          <c:extLst>
            <c:ext xmlns:c16="http://schemas.microsoft.com/office/drawing/2014/chart" uri="{C3380CC4-5D6E-409C-BE32-E72D297353CC}">
              <c16:uniqueId val="{00000000-A216-AB45-8005-5662CABCB1B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176"/>
                </a:solidFill>
                <a:latin typeface="+mn-lt"/>
              </a:defRPr>
            </a:pPr>
            <a:endParaRPr lang="en-US"/>
          </a:p>
        </c:txPr>
        <c:crossAx val="2094734552"/>
        <c:crosses val="autoZero"/>
        <c:auto val="1"/>
        <c:lblAlgn val="ctr"/>
        <c:lblOffset val="100"/>
        <c:noMultiLvlLbl val="1"/>
      </c:catAx>
      <c:valAx>
        <c:axId val="2094734552"/>
        <c:scaling>
          <c:orientation val="minMax"/>
          <c:max val="30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176"/>
                </a:solidFill>
                <a:latin typeface="+mn-lt"/>
              </a:defRPr>
            </a:pPr>
            <a:endParaRPr lang="en-US"/>
          </a:p>
        </c:txPr>
        <c:crossAx val="2094734554"/>
        <c:crosses val="autoZero"/>
        <c:crossBetween val="between"/>
        <c:majorUnit val="1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Hours</c:v>
                </c:pt>
              </c:strCache>
            </c:strRef>
          </c:tx>
          <c:spPr>
            <a:solidFill>
              <a:srgbClr val="1C809B"/>
            </a:solidFill>
            <a:effectLst/>
          </c:spPr>
          <c:invertIfNegative val="0"/>
          <c:dLbls>
            <c:numFmt formatCode="#,##0" sourceLinked="0"/>
            <c:spPr>
              <a:noFill/>
              <a:ln>
                <a:noFill/>
              </a:ln>
              <a:effectLst/>
            </c:spPr>
            <c:txPr>
              <a:bodyPr/>
              <a:lstStyle/>
              <a:p>
                <a:pPr>
                  <a:defRPr sz="1000" b="0" i="0" u="none" strike="noStrike">
                    <a:solidFill>
                      <a:srgbClr val="1D1D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Csenge Varjas</c:v>
                </c:pt>
                <c:pt idx="1">
                  <c:v>Murat Koylu</c:v>
                </c:pt>
                <c:pt idx="2">
                  <c:v>Andrei Costantea</c:v>
                </c:pt>
                <c:pt idx="3">
                  <c:v>Yakup Arslan</c:v>
                </c:pt>
                <c:pt idx="4">
                  <c:v>Serena Toto</c:v>
                </c:pt>
                <c:pt idx="5">
                  <c:v>Jure Bernava Prah</c:v>
                </c:pt>
                <c:pt idx="6">
                  <c:v>Ana Samoukova</c:v>
                </c:pt>
                <c:pt idx="7">
                  <c:v>Utku Yazgan</c:v>
                </c:pt>
                <c:pt idx="8">
                  <c:v>(unassigned)</c:v>
                </c:pt>
                <c:pt idx="9">
                  <c:v>Daumantas Patapas</c:v>
                </c:pt>
                <c:pt idx="10">
                  <c:v>Ayush Singhal</c:v>
                </c:pt>
                <c:pt idx="11">
                  <c:v>Anca Negulescu</c:v>
                </c:pt>
              </c:strCache>
            </c:strRef>
          </c:cat>
          <c:val>
            <c:numRef>
              <c:f>Sheet1!$B$2:$B$13</c:f>
              <c:numCache>
                <c:formatCode>General</c:formatCode>
                <c:ptCount val="12"/>
                <c:pt idx="0">
                  <c:v>1.7</c:v>
                </c:pt>
                <c:pt idx="1">
                  <c:v>2.5</c:v>
                </c:pt>
                <c:pt idx="2">
                  <c:v>7.3</c:v>
                </c:pt>
                <c:pt idx="3">
                  <c:v>17.600000000000001</c:v>
                </c:pt>
                <c:pt idx="4">
                  <c:v>27.7</c:v>
                </c:pt>
                <c:pt idx="5">
                  <c:v>40.4</c:v>
                </c:pt>
                <c:pt idx="6">
                  <c:v>69.2</c:v>
                </c:pt>
                <c:pt idx="7">
                  <c:v>73.3</c:v>
                </c:pt>
                <c:pt idx="8">
                  <c:v>96</c:v>
                </c:pt>
                <c:pt idx="9">
                  <c:v>184.4</c:v>
                </c:pt>
                <c:pt idx="10">
                  <c:v>191</c:v>
                </c:pt>
                <c:pt idx="11">
                  <c:v>505.7</c:v>
                </c:pt>
              </c:numCache>
            </c:numRef>
          </c:val>
          <c:extLst>
            <c:ext xmlns:c16="http://schemas.microsoft.com/office/drawing/2014/chart" uri="{C3380CC4-5D6E-409C-BE32-E72D297353CC}">
              <c16:uniqueId val="{00000000-66D3-4241-83CB-C9F436D47B2F}"/>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6B7176"/>
                </a:solidFill>
                <a:latin typeface="+mn-lt"/>
              </a:defRPr>
            </a:pPr>
            <a:endParaRPr lang="en-US"/>
          </a:p>
        </c:txPr>
        <c:crossAx val="2094734552"/>
        <c:crosses val="autoZero"/>
        <c:auto val="1"/>
        <c:lblAlgn val="ctr"/>
        <c:lblOffset val="100"/>
        <c:noMultiLvlLbl val="1"/>
      </c:catAx>
      <c:valAx>
        <c:axId val="2094734552"/>
        <c:scaling>
          <c:orientation val="minMax"/>
          <c:max val="62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9094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Purpose of this session: I am handing over ownership of the WBSO process for Validaide B.V. In the next 20 minutes you get the scheme, the people involved, the current project, how we substantiate hours today, the numbers for 2026 so far, and the calendar the new owner has to run.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handover, not a policy discussion. Six parts. The practical core is parts 4 to 6: the reporting tool, the 2026 numbers, and the calendar.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three things to remember: it only covers technically new development work; the money is a percentage of hours times an hourly wage set by RVO; and it is settled after the year on realised hours, which is why substantiating hours matters so much. Sources: rvo.nl/subsidies-financiering/wbso and the 2026 S&amp;O-verklaring in docs/.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left to right. Stress step 3: the hours administration is a legal requirement and is what an RVO audit looks at. Step 4: the 31 March deadline is hard, missing it costs a fine. Below: the four parties. SubVice does the paperwork with RVO; we provide the substance and the numbers.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set-up. Validaide B.V. is the applicant, SubVice is the intermediary that talks to RVO. Right: the two grants we have had. Note the drop from 7,000 to 3,000 hours in 2026, and the higher hourly wage of 40 euro (RVO computes it from the BSNs we reported for 2024). The 17 euro per hour is 51,408 divided by 3,000: a useful number to explain why every qualifying hour should be labelled in Jira.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 RVO granted for 2026, taken from the application SubVice filed on 15 December 2025 and the decision of 20 February 2026 (both in docs/). The phases are what RVO expects to see progress on. In Jira the work lives under the wbso label in VALCM; make sure new epics that fit these phases get the label. The two 2025 projects are closed; their realisation was reported in March 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picture of 2025. The old process depended on nine people filling in personal spreadsheets, and the hours that could be substantiated at the end were 758 of 7,000. RVO corrected the benefit by 89,888 euro and the decision letter notes that the data can still be checked later. Whether the real R&amp;D effort was higher is beside the point: what we could not evidence, we could not claim. That is the problem the new approach fixes.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is wbso/WbsoHours.java in the reporting-utils repository: one file, JDK only, no dependencies. It is a derived estimate, not a time log: story points times four hours, spread over the people who actually moved the ticket through development and testing, in the month they did it. The methodology is written into the Notes tab of every workbook so an auditor sees it without us. The important behaviours for Jira hygiene: label, story points, assignee, status.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if there is time: compile once, set the two variables, run for the month. The README in wbso/ has the same instructions. The right-hand column is the review you do before trusting a number: statuses classified, no skipped issues, and the payroll filter applied by hand because the tool deliberately includes every assignee.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the nine workbooks in wbso/reports, generated on 13 October 2026. 1,217 hours in nine months, 41 percent of the grant. The monthly profile is uneven: January, July and September are close to zero, which is more likely missing labels or story points than missing work. 96 hours sit on tickets with no assignee. The per-person list includes everyone who touched a labelled ticket, including colleagues who are not on Validaide B.V. payroll; the payroll filter is applied afterwards. One person with zero hours is omitted from the chart.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projection is simple arithmetic on the current pace and is there to make the point: the benefit follows the evidence. The single biggest lever for the new owner is Jira hygiene at refinement time: label, DEV and QA story points, assignee. The calendar on the right is the whole job in six lines; the one date that cannot slip is 31 March 2027.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pointers: everything is in the reporting-utils repository, the RVO letters are in docs/, and SubVice remains the contact towards RVO.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pic>
        <p:nvPicPr>
          <p:cNvPr id="2" name="Image 0" descr="/private/tmp/claude-502/-Users-gianluigidisconzi-projects-github-reporting-utils/5823384a-f0fa-4290-8dea-c1a042c1d6c8/scratchpad/build/assets/validaide_dark.png"/>
          <p:cNvPicPr>
            <a:picLocks noChangeAspect="1"/>
          </p:cNvPicPr>
          <p:nvPr/>
        </p:nvPicPr>
        <p:blipFill>
          <a:blip r:embed="rId2"/>
          <a:stretch>
            <a:fillRect/>
          </a:stretch>
        </p:blipFill>
        <p:spPr>
          <a:xfrm>
            <a:off x="548640" y="6400800"/>
            <a:ext cx="1051560" cy="182880"/>
          </a:xfrm>
          <a:prstGeom prst="rect">
            <a:avLst/>
          </a:prstGeom>
        </p:spPr>
      </p:pic>
      <p:sp>
        <p:nvSpPr>
          <p:cNvPr id="3" name="Shape 0"/>
          <p:cNvSpPr/>
          <p:nvPr/>
        </p:nvSpPr>
        <p:spPr>
          <a:xfrm>
            <a:off x="1783080" y="6382512"/>
            <a:ext cx="0" cy="219456"/>
          </a:xfrm>
          <a:prstGeom prst="line">
            <a:avLst/>
          </a:prstGeom>
          <a:noFill/>
          <a:ln w="9525">
            <a:solidFill>
              <a:srgbClr val="6B7176"/>
            </a:solidFill>
            <a:prstDash val="solid"/>
          </a:ln>
        </p:spPr>
      </p:sp>
      <p:pic>
        <p:nvPicPr>
          <p:cNvPr id="4" name="Image 1" descr="/private/tmp/claude-502/-Users-gianluigidisconzi-projects-github-reporting-utils/5823384a-f0fa-4290-8dea-c1a042c1d6c8/scratchpad/build/assets/skycell_dark.png"/>
          <p:cNvPicPr>
            <a:picLocks noChangeAspect="1"/>
          </p:cNvPicPr>
          <p:nvPr/>
        </p:nvPicPr>
        <p:blipFill>
          <a:blip r:embed="rId3"/>
          <a:stretch>
            <a:fillRect/>
          </a:stretch>
        </p:blipFill>
        <p:spPr>
          <a:xfrm>
            <a:off x="1965960" y="6364224"/>
            <a:ext cx="731520" cy="218542"/>
          </a:xfrm>
          <a:prstGeom prst="rect">
            <a:avLst/>
          </a:prstGeom>
        </p:spPr>
      </p:pic>
      <p:sp>
        <p:nvSpPr>
          <p:cNvPr id="5" name="Text 1"/>
          <p:cNvSpPr/>
          <p:nvPr/>
        </p:nvSpPr>
        <p:spPr>
          <a:xfrm>
            <a:off x="3017520" y="6336792"/>
            <a:ext cx="5486400" cy="274320"/>
          </a:xfrm>
          <a:prstGeom prst="rect">
            <a:avLst/>
          </a:prstGeom>
          <a:noFill/>
          <a:ln/>
        </p:spPr>
        <p:txBody>
          <a:bodyPr wrap="square" lIns="0" tIns="0" rIns="0" bIns="0" rtlCol="0" anchor="ctr"/>
          <a:lstStyle/>
          <a:p>
            <a:pPr marL="0" indent="0">
              <a:buNone/>
            </a:pPr>
            <a:r>
              <a:rPr lang="en-US" sz="900" dirty="0">
                <a:solidFill>
                  <a:srgbClr val="6B7176"/>
                </a:solidFill>
              </a:rPr>
              <a:t>WBSO handover  ·  Validaide B.V.  ·  October 2026</a:t>
            </a:r>
            <a:endParaRPr lang="en-US" sz="900" dirty="0"/>
          </a:p>
        </p:txBody>
      </p:sp>
      <p:sp>
        <p:nvSpPr>
          <p:cNvPr id="6" name="Text 2"/>
          <p:cNvSpPr>
            <a:spLocks noGrp="1"/>
          </p:cNvSpPr>
          <p:nvPr>
            <p:ph type="title" idx="104" hasCustomPrompt="1"/>
          </p:nvPr>
        </p:nvSpPr>
        <p:spPr>
          <a:xfrm>
            <a:off x="548640" y="411480"/>
            <a:ext cx="11064240" cy="731520"/>
          </a:xfrm>
          <a:prstGeom prst="rect">
            <a:avLst/>
          </a:prstGeom>
          <a:noFill/>
          <a:ln/>
        </p:spPr>
        <p:txBody>
          <a:bodyPr wrap="square" rtlCol="0"/>
          <a:lstStyle>
            <a:lvl1pPr marL="0" indent="0" algn="l">
              <a:buNone/>
              <a:defRPr lang="en-US" sz="3000" b="1" dirty="0">
                <a:solidFill>
                  <a:srgbClr val="0E3F4D"/>
                </a:solidFill>
              </a:defRPr>
            </a:lvl1pPr>
          </a:lstStyle>
          <a:p>
            <a:pPr marL="0" indent="0" algn="l">
              <a:buNone/>
            </a:pPr>
            <a:r>
              <a:rPr lang="en-US" sz="3000" b="1" dirty="0">
                <a:solidFill>
                  <a:srgbClr val="0E3F4D"/>
                </a:solidFill>
              </a:rPr>
              <a:t>Title</a:t>
            </a:r>
            <a:endParaRPr lang="en-US" sz="3000" dirty="0"/>
          </a:p>
        </p:txBody>
      </p:sp>
      <p:sp>
        <p:nvSpPr>
          <p:cNvPr id="25"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3F4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48840"/>
            <a:ext cx="7863840" cy="1097280"/>
          </a:xfrm>
          <a:prstGeom prst="rect">
            <a:avLst/>
          </a:prstGeom>
          <a:noFill/>
          <a:ln/>
        </p:spPr>
        <p:txBody>
          <a:bodyPr wrap="square" rtlCol="0"/>
          <a:lstStyle>
            <a:lvl1pPr marL="0" indent="0" algn="l">
              <a:buNone/>
              <a:defRPr lang="en-US" sz="4400" b="1" dirty="0">
                <a:solidFill>
                  <a:srgbClr val="FFFFFF"/>
                </a:solidFill>
              </a:defRPr>
            </a:lvl1pPr>
          </a:lstStyle>
          <a:p>
            <a:pPr marL="0" indent="0" algn="l">
              <a:buNone/>
            </a:pPr>
            <a:r>
              <a:rPr lang="en-US" sz="4400" b="1" dirty="0">
                <a:solidFill>
                  <a:srgbClr val="FFFFFF"/>
                </a:solidFill>
              </a:rPr>
              <a:t>Title</a:t>
            </a:r>
            <a:endParaRPr lang="en-US" sz="4400" dirty="0"/>
          </a:p>
        </p:txBody>
      </p:sp>
      <p:sp>
        <p:nvSpPr>
          <p:cNvPr id="3" name="Text 0"/>
          <p:cNvSpPr>
            <a:spLocks noGrp="1"/>
          </p:cNvSpPr>
          <p:nvPr>
            <p:ph type="body" idx="101" hasCustomPrompt="1"/>
          </p:nvPr>
        </p:nvSpPr>
        <p:spPr>
          <a:xfrm>
            <a:off x="548640" y="3246120"/>
            <a:ext cx="7315200" cy="1005840"/>
          </a:xfrm>
          <a:prstGeom prst="rect">
            <a:avLst/>
          </a:prstGeom>
          <a:noFill/>
          <a:ln/>
        </p:spPr>
        <p:txBody>
          <a:bodyPr wrap="square" rtlCol="0"/>
          <a:lstStyle>
            <a:lvl1pPr marL="0" indent="0" algn="l">
              <a:buNone/>
              <a:defRPr lang="en-US" sz="2000" dirty="0">
                <a:solidFill>
                  <a:srgbClr val="50C8E8"/>
                </a:solidFill>
              </a:defRPr>
            </a:lvl1pPr>
          </a:lstStyle>
          <a:p>
            <a:pPr marL="0" indent="0" algn="l">
              <a:buNone/>
            </a:pPr>
            <a:r>
              <a:rPr lang="en-US" sz="2000" dirty="0">
                <a:solidFill>
                  <a:srgbClr val="50C8E8"/>
                </a:solidFill>
              </a:rPr>
              <a:t>Subtitle</a:t>
            </a: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a:t>
            </a:fld>
            <a:endParaRPr lang="en-US"/>
          </a:p>
        </p:txBody>
      </p:sp>
      <p:sp>
        <p:nvSpPr>
          <p:cNvPr id="3" name="TextBox 2">
            <a:extLst>
              <a:ext uri="{FF2B5EF4-FFF2-40B4-BE49-F238E27FC236}">
                <a16:creationId xmlns:a16="http://schemas.microsoft.com/office/drawing/2014/main" id="{201E37A1-6DCD-791C-CC0A-EAFE77BA6CBA}"/>
              </a:ext>
            </a:extLst>
          </p:cNvPr>
          <p:cNvSpPr txBox="1"/>
          <p:nvPr userDrawn="1">
            <p:extLst>
              <p:ext uri="{1162E1C5-73C7-4A58-AE30-91384D911F3F}">
                <p184:classification xmlns:p184="http://schemas.microsoft.com/office/powerpoint/2018/4/main" val="ftr"/>
              </p:ext>
            </p:extLst>
          </p:nvPr>
        </p:nvSpPr>
        <p:spPr>
          <a:xfrm>
            <a:off x="5826125" y="6642100"/>
            <a:ext cx="56515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Protected</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28.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4" name="logo-validaide-3" descr="/private/tmp/claude-502/-Users-gianluigidisconzi-projects-github-reporting-utils/5823384a-f0fa-4290-8dea-c1a042c1d6c8/scratchpad/build/assets/validaide_white.png"/>
          <p:cNvPicPr>
            <a:picLocks noChangeAspect="1"/>
          </p:cNvPicPr>
          <p:nvPr/>
        </p:nvPicPr>
        <p:blipFill>
          <a:blip r:embed="rId3"/>
          <a:stretch>
            <a:fillRect/>
          </a:stretch>
        </p:blipFill>
        <p:spPr>
          <a:xfrm>
            <a:off x="548640" y="603504"/>
            <a:ext cx="2194560" cy="382219"/>
          </a:xfrm>
          <a:prstGeom prst="rect">
            <a:avLst/>
          </a:prstGeom>
        </p:spPr>
      </p:pic>
      <p:sp>
        <p:nvSpPr>
          <p:cNvPr id="5" name="divider-4"/>
          <p:cNvSpPr/>
          <p:nvPr/>
        </p:nvSpPr>
        <p:spPr>
          <a:xfrm>
            <a:off x="2971800" y="548640"/>
            <a:ext cx="0" cy="493776"/>
          </a:xfrm>
          <a:prstGeom prst="line">
            <a:avLst/>
          </a:prstGeom>
          <a:noFill/>
          <a:ln w="12700">
            <a:solidFill>
              <a:schemeClr val="accent2"/>
            </a:solidFill>
            <a:prstDash val="solid"/>
          </a:ln>
        </p:spPr>
        <p:txBody>
          <a:bodyPr/>
          <a:lstStyle/>
          <a:p>
            <a:endParaRPr lang="en-US"/>
          </a:p>
        </p:txBody>
      </p:sp>
      <p:pic>
        <p:nvPicPr>
          <p:cNvPr id="6" name="logo-skycell-5" descr="/private/tmp/claude-502/-Users-gianluigidisconzi-projects-github-reporting-utils/5823384a-f0fa-4290-8dea-c1a042c1d6c8/scratchpad/build/assets/skycell_white.png"/>
          <p:cNvPicPr>
            <a:picLocks noChangeAspect="1"/>
          </p:cNvPicPr>
          <p:nvPr/>
        </p:nvPicPr>
        <p:blipFill>
          <a:blip r:embed="rId4"/>
          <a:stretch>
            <a:fillRect/>
          </a:stretch>
        </p:blipFill>
        <p:spPr>
          <a:xfrm>
            <a:off x="3200400" y="566928"/>
            <a:ext cx="1508760" cy="450799"/>
          </a:xfrm>
          <a:prstGeom prst="rect">
            <a:avLst/>
          </a:prstGeom>
        </p:spPr>
      </p:pic>
      <p:sp>
        <p:nvSpPr>
          <p:cNvPr id="7" name="Text 0"/>
          <p:cNvSpPr>
            <a:spLocks noGrp="1"/>
          </p:cNvSpPr>
          <p:nvPr>
            <p:ph type="title" idx="100" hasCustomPrompt="1"/>
          </p:nvPr>
        </p:nvSpPr>
        <p:spPr>
          <a:xfrm>
            <a:off x="548640" y="2148840"/>
            <a:ext cx="7863840" cy="1097280"/>
          </a:xfrm>
          <a:prstGeom prst="rect">
            <a:avLst/>
          </a:prstGeom>
          <a:noFill/>
          <a:ln/>
        </p:spPr>
        <p:txBody>
          <a:bodyPr wrap="square" lIns="0" tIns="0" rIns="0" bIns="0" rtlCol="0" anchor="ctr"/>
          <a:lstStyle/>
          <a:p>
            <a:pPr marL="0" indent="0" algn="l">
              <a:buNone/>
            </a:pPr>
            <a:r>
              <a:rPr lang="en-US" sz="4400" b="1" dirty="0">
                <a:solidFill>
                  <a:srgbClr val="FFFFFF"/>
                </a:solidFill>
              </a:rPr>
              <a:t>WBSO at Validaide</a:t>
            </a:r>
            <a:endParaRPr lang="en-US" sz="4400" dirty="0"/>
          </a:p>
        </p:txBody>
      </p:sp>
      <p:sp>
        <p:nvSpPr>
          <p:cNvPr id="8" name="Text 0"/>
          <p:cNvSpPr>
            <a:spLocks noGrp="1"/>
          </p:cNvSpPr>
          <p:nvPr>
            <p:ph type="body" idx="101" hasCustomPrompt="1"/>
          </p:nvPr>
        </p:nvSpPr>
        <p:spPr>
          <a:xfrm>
            <a:off x="548640" y="3246120"/>
            <a:ext cx="7315200" cy="1005840"/>
          </a:xfrm>
          <a:prstGeom prst="rect">
            <a:avLst/>
          </a:prstGeom>
          <a:noFill/>
          <a:ln/>
        </p:spPr>
        <p:txBody>
          <a:bodyPr wrap="square" lIns="0" tIns="0" rIns="0" bIns="0" rtlCol="0" anchor="t"/>
          <a:lstStyle/>
          <a:p>
            <a:pPr marL="0" indent="0" algn="l">
              <a:buNone/>
            </a:pPr>
            <a:r>
              <a:rPr lang="en-US" sz="2000" dirty="0">
                <a:solidFill>
                  <a:srgbClr val="50C8E8"/>
                </a:solidFill>
              </a:rPr>
              <a:t>R&amp;D tax credit: what it is, how we use it, and how we report it</a:t>
            </a:r>
            <a:endParaRPr lang="en-US" sz="2000" dirty="0"/>
          </a:p>
        </p:txBody>
      </p:sp>
      <p:sp>
        <p:nvSpPr>
          <p:cNvPr id="9" name="text-6"/>
          <p:cNvSpPr txBox="1"/>
          <p:nvPr/>
        </p:nvSpPr>
        <p:spPr>
          <a:xfrm>
            <a:off x="548640" y="5897880"/>
            <a:ext cx="7315200" cy="365760"/>
          </a:xfrm>
          <a:prstGeom prst="rect">
            <a:avLst/>
          </a:prstGeom>
          <a:noFill/>
          <a:ln/>
        </p:spPr>
        <p:txBody>
          <a:bodyPr wrap="square" lIns="0" tIns="0" rIns="0" bIns="0" rtlCol="0" anchor="t"/>
          <a:lstStyle/>
          <a:p>
            <a:pPr marL="0" indent="0">
              <a:buNone/>
            </a:pPr>
            <a:r>
              <a:rPr lang="en-US" sz="1400" dirty="0">
                <a:solidFill>
                  <a:schemeClr val="bg2"/>
                </a:solidFill>
              </a:rPr>
              <a:t>Gianluigi Disconzi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Welcome: why we are here</a:t>
            </a:r>
            <a:endParaRPr lang="en-US" sz="3000" dirty="0"/>
          </a:p>
        </p:txBody>
      </p:sp>
      <p:sp>
        <p:nvSpPr>
          <p:cNvPr id="3" name="text-7"/>
          <p:cNvSpPr txBox="1"/>
          <p:nvPr/>
        </p:nvSpPr>
        <p:spPr>
          <a:xfrm>
            <a:off x="548640" y="1371600"/>
            <a:ext cx="5120640" cy="1554480"/>
          </a:xfrm>
          <a:prstGeom prst="rect">
            <a:avLst/>
          </a:prstGeom>
          <a:noFill/>
          <a:ln/>
        </p:spPr>
        <p:txBody>
          <a:bodyPr wrap="square" lIns="0" tIns="0" rIns="0" bIns="0" rtlCol="0" anchor="t"/>
          <a:lstStyle/>
          <a:p>
            <a:pPr marL="0" indent="0">
              <a:lnSpc>
                <a:spcPct val="115000"/>
              </a:lnSpc>
              <a:buNone/>
            </a:pPr>
            <a:r>
              <a:rPr lang="en-US" sz="1800" dirty="0">
                <a:solidFill>
                  <a:schemeClr val="tx2"/>
                </a:solidFill>
              </a:rPr>
              <a:t>This session is an introduction over everything related to the WBSO and what’s needed to run it: the scheme, the people, the tooling and the calendar.</a:t>
            </a:r>
            <a:endParaRPr lang="en-US" sz="1800" dirty="0"/>
          </a:p>
        </p:txBody>
      </p:sp>
      <p:sp>
        <p:nvSpPr>
          <p:cNvPr id="4" name="text-8"/>
          <p:cNvSpPr txBox="1"/>
          <p:nvPr/>
        </p:nvSpPr>
        <p:spPr>
          <a:xfrm>
            <a:off x="548640" y="3154680"/>
            <a:ext cx="5120640" cy="365760"/>
          </a:xfrm>
          <a:prstGeom prst="rect">
            <a:avLst/>
          </a:prstGeom>
          <a:noFill/>
          <a:ln/>
        </p:spPr>
        <p:txBody>
          <a:bodyPr wrap="square" lIns="0" tIns="0" rIns="0" bIns="0" rtlCol="0" anchor="t"/>
          <a:lstStyle/>
          <a:p>
            <a:pPr marL="0" indent="0">
              <a:buNone/>
            </a:pPr>
            <a:r>
              <a:rPr lang="en-US" sz="1400" b="1" dirty="0">
                <a:solidFill>
                  <a:schemeClr val="accent1"/>
                </a:solidFill>
              </a:rPr>
              <a:t>By the end you will</a:t>
            </a:r>
            <a:endParaRPr lang="en-US" sz="1400" dirty="0"/>
          </a:p>
        </p:txBody>
      </p:sp>
      <p:pic>
        <p:nvPicPr>
          <p:cNvPr id="5" name="check-9" descr="preencoded.png"/>
          <p:cNvPicPr>
            <a:picLocks noChangeAspect="1"/>
          </p:cNvPicPr>
          <p:nvPr/>
        </p:nvPicPr>
        <p:blipFill>
          <a:blip r:embed="rId3"/>
          <a:stretch>
            <a:fillRect/>
          </a:stretch>
        </p:blipFill>
        <p:spPr>
          <a:xfrm>
            <a:off x="548640" y="3648456"/>
            <a:ext cx="256032" cy="256032"/>
          </a:xfrm>
          <a:prstGeom prst="rect">
            <a:avLst/>
          </a:prstGeom>
        </p:spPr>
      </p:pic>
      <p:sp>
        <p:nvSpPr>
          <p:cNvPr id="6" name="text-10"/>
          <p:cNvSpPr txBox="1"/>
          <p:nvPr/>
        </p:nvSpPr>
        <p:spPr>
          <a:xfrm>
            <a:off x="914400" y="3593592"/>
            <a:ext cx="4754880" cy="365760"/>
          </a:xfrm>
          <a:prstGeom prst="rect">
            <a:avLst/>
          </a:prstGeom>
          <a:noFill/>
          <a:ln/>
        </p:spPr>
        <p:txBody>
          <a:bodyPr wrap="square" lIns="0" tIns="0" rIns="0" bIns="0" rtlCol="0" anchor="ctr"/>
          <a:lstStyle/>
          <a:p>
            <a:pPr marL="0" indent="0">
              <a:buNone/>
            </a:pPr>
            <a:r>
              <a:rPr lang="en-US" sz="1400" dirty="0">
                <a:solidFill>
                  <a:schemeClr val="tx1"/>
                </a:solidFill>
              </a:rPr>
              <a:t>know what WBSO is and what RVO expects from us</a:t>
            </a:r>
            <a:endParaRPr lang="en-US" sz="1400" dirty="0"/>
          </a:p>
        </p:txBody>
      </p:sp>
      <p:pic>
        <p:nvPicPr>
          <p:cNvPr id="7" name="check-11" descr="preencoded.png"/>
          <p:cNvPicPr>
            <a:picLocks noChangeAspect="1"/>
          </p:cNvPicPr>
          <p:nvPr/>
        </p:nvPicPr>
        <p:blipFill>
          <a:blip r:embed="rId3"/>
          <a:stretch>
            <a:fillRect/>
          </a:stretch>
        </p:blipFill>
        <p:spPr>
          <a:xfrm>
            <a:off x="548640" y="4105656"/>
            <a:ext cx="256032" cy="256032"/>
          </a:xfrm>
          <a:prstGeom prst="rect">
            <a:avLst/>
          </a:prstGeom>
        </p:spPr>
      </p:pic>
      <p:sp>
        <p:nvSpPr>
          <p:cNvPr id="8" name="text-12"/>
          <p:cNvSpPr txBox="1"/>
          <p:nvPr/>
        </p:nvSpPr>
        <p:spPr>
          <a:xfrm>
            <a:off x="914400" y="4050792"/>
            <a:ext cx="4754880" cy="365760"/>
          </a:xfrm>
          <a:prstGeom prst="rect">
            <a:avLst/>
          </a:prstGeom>
          <a:noFill/>
          <a:ln/>
        </p:spPr>
        <p:txBody>
          <a:bodyPr wrap="square" lIns="0" tIns="0" rIns="0" bIns="0" rtlCol="0" anchor="ctr"/>
          <a:lstStyle/>
          <a:p>
            <a:pPr marL="0" indent="0">
              <a:buNone/>
            </a:pPr>
            <a:r>
              <a:rPr lang="en-US" sz="1400" dirty="0">
                <a:solidFill>
                  <a:schemeClr val="tx1"/>
                </a:solidFill>
              </a:rPr>
              <a:t>know who does what: RVO, SubVice, </a:t>
            </a:r>
            <a:r>
              <a:rPr lang="en-US" sz="1400" dirty="0" err="1">
                <a:solidFill>
                  <a:schemeClr val="tx1"/>
                </a:solidFill>
              </a:rPr>
              <a:t>Validaide</a:t>
            </a:r>
            <a:endParaRPr lang="en-US" sz="1400" dirty="0"/>
          </a:p>
        </p:txBody>
      </p:sp>
      <p:pic>
        <p:nvPicPr>
          <p:cNvPr id="9" name="check-13" descr="preencoded.png"/>
          <p:cNvPicPr>
            <a:picLocks noChangeAspect="1"/>
          </p:cNvPicPr>
          <p:nvPr/>
        </p:nvPicPr>
        <p:blipFill>
          <a:blip r:embed="rId3"/>
          <a:stretch>
            <a:fillRect/>
          </a:stretch>
        </p:blipFill>
        <p:spPr>
          <a:xfrm>
            <a:off x="548640" y="4562856"/>
            <a:ext cx="256032" cy="256032"/>
          </a:xfrm>
          <a:prstGeom prst="rect">
            <a:avLst/>
          </a:prstGeom>
        </p:spPr>
      </p:pic>
      <p:sp>
        <p:nvSpPr>
          <p:cNvPr id="10" name="text-14"/>
          <p:cNvSpPr txBox="1"/>
          <p:nvPr/>
        </p:nvSpPr>
        <p:spPr>
          <a:xfrm>
            <a:off x="914400" y="4507992"/>
            <a:ext cx="4754880" cy="365760"/>
          </a:xfrm>
          <a:prstGeom prst="rect">
            <a:avLst/>
          </a:prstGeom>
          <a:noFill/>
          <a:ln/>
        </p:spPr>
        <p:txBody>
          <a:bodyPr wrap="square" lIns="0" tIns="0" rIns="0" bIns="0" rtlCol="0" anchor="ctr"/>
          <a:lstStyle/>
          <a:p>
            <a:pPr marL="0" indent="0">
              <a:buNone/>
            </a:pPr>
            <a:r>
              <a:rPr lang="en-US" sz="1400" dirty="0"/>
              <a:t>k</a:t>
            </a:r>
            <a:r>
              <a:rPr lang="en-US" sz="1400" dirty="0">
                <a:solidFill>
                  <a:schemeClr val="tx1"/>
                </a:solidFill>
              </a:rPr>
              <a:t>now the monthly hours reports</a:t>
            </a:r>
            <a:endParaRPr lang="en-US" sz="1400" dirty="0"/>
          </a:p>
        </p:txBody>
      </p:sp>
      <p:pic>
        <p:nvPicPr>
          <p:cNvPr id="11" name="check-15" descr="preencoded.png"/>
          <p:cNvPicPr>
            <a:picLocks noChangeAspect="1"/>
          </p:cNvPicPr>
          <p:nvPr/>
        </p:nvPicPr>
        <p:blipFill>
          <a:blip r:embed="rId3"/>
          <a:stretch>
            <a:fillRect/>
          </a:stretch>
        </p:blipFill>
        <p:spPr>
          <a:xfrm>
            <a:off x="548640" y="5020056"/>
            <a:ext cx="256032" cy="256032"/>
          </a:xfrm>
          <a:prstGeom prst="rect">
            <a:avLst/>
          </a:prstGeom>
        </p:spPr>
      </p:pic>
      <p:sp>
        <p:nvSpPr>
          <p:cNvPr id="12" name="text-16"/>
          <p:cNvSpPr txBox="1"/>
          <p:nvPr/>
        </p:nvSpPr>
        <p:spPr>
          <a:xfrm>
            <a:off x="914400" y="4965192"/>
            <a:ext cx="4754880" cy="365760"/>
          </a:xfrm>
          <a:prstGeom prst="rect">
            <a:avLst/>
          </a:prstGeom>
          <a:noFill/>
          <a:ln/>
        </p:spPr>
        <p:txBody>
          <a:bodyPr wrap="square" lIns="0" tIns="0" rIns="0" bIns="0" rtlCol="0" anchor="ctr"/>
          <a:lstStyle/>
          <a:p>
            <a:pPr marL="0" indent="0">
              <a:buNone/>
            </a:pPr>
            <a:r>
              <a:rPr lang="en-US" sz="1400" dirty="0">
                <a:solidFill>
                  <a:schemeClr val="tx1"/>
                </a:solidFill>
              </a:rPr>
              <a:t>know the yearly deadlines and the traps to avoid</a:t>
            </a:r>
            <a:endParaRPr lang="en-US" sz="1400" dirty="0"/>
          </a:p>
        </p:txBody>
      </p:sp>
      <p:sp>
        <p:nvSpPr>
          <p:cNvPr id="13" name="card-17"/>
          <p:cNvSpPr/>
          <p:nvPr/>
        </p:nvSpPr>
        <p:spPr>
          <a:xfrm>
            <a:off x="6172200" y="1325880"/>
            <a:ext cx="5440680" cy="4754880"/>
          </a:xfrm>
          <a:prstGeom prst="roundRect">
            <a:avLst>
              <a:gd name="adj" fmla="val 1923"/>
            </a:avLst>
          </a:prstGeom>
          <a:solidFill>
            <a:schemeClr val="bg2"/>
          </a:solidFill>
          <a:ln w="12700">
            <a:solidFill>
              <a:schemeClr val="bg2"/>
            </a:solidFill>
            <a:prstDash val="solid"/>
          </a:ln>
        </p:spPr>
        <p:txBody>
          <a:bodyPr/>
          <a:lstStyle/>
          <a:p>
            <a:endParaRPr lang="en-US"/>
          </a:p>
        </p:txBody>
      </p:sp>
      <p:sp>
        <p:nvSpPr>
          <p:cNvPr id="14" name="text-18"/>
          <p:cNvSpPr txBox="1"/>
          <p:nvPr/>
        </p:nvSpPr>
        <p:spPr>
          <a:xfrm>
            <a:off x="6492240" y="1508760"/>
            <a:ext cx="4572000" cy="365760"/>
          </a:xfrm>
          <a:prstGeom prst="rect">
            <a:avLst/>
          </a:prstGeom>
          <a:noFill/>
          <a:ln/>
        </p:spPr>
        <p:txBody>
          <a:bodyPr wrap="square" lIns="0" tIns="0" rIns="0" bIns="0" rtlCol="0" anchor="t"/>
          <a:lstStyle/>
          <a:p>
            <a:pPr marL="0" indent="0">
              <a:buNone/>
            </a:pPr>
            <a:r>
              <a:rPr lang="en-US" sz="1400" b="1" dirty="0">
                <a:solidFill>
                  <a:schemeClr val="accent1"/>
                </a:solidFill>
              </a:rPr>
              <a:t>Agenda</a:t>
            </a:r>
            <a:endParaRPr lang="en-US" sz="1400" dirty="0"/>
          </a:p>
        </p:txBody>
      </p:sp>
      <p:sp>
        <p:nvSpPr>
          <p:cNvPr id="15" name="icon-bg-19"/>
          <p:cNvSpPr/>
          <p:nvPr/>
        </p:nvSpPr>
        <p:spPr>
          <a:xfrm>
            <a:off x="6492240" y="2011680"/>
            <a:ext cx="420624" cy="420624"/>
          </a:xfrm>
          <a:prstGeom prst="ellipse">
            <a:avLst/>
          </a:prstGeom>
          <a:solidFill>
            <a:schemeClr val="accent1"/>
          </a:solidFill>
          <a:ln w="12700">
            <a:solidFill>
              <a:schemeClr val="accent1"/>
            </a:solidFill>
            <a:prstDash val="solid"/>
          </a:ln>
        </p:spPr>
        <p:txBody>
          <a:bodyPr/>
          <a:lstStyle/>
          <a:p>
            <a:endParaRPr lang="en-US"/>
          </a:p>
        </p:txBody>
      </p:sp>
      <p:pic>
        <p:nvPicPr>
          <p:cNvPr id="16" name="icon-20" descr="preencoded.png"/>
          <p:cNvPicPr>
            <a:picLocks noChangeAspect="1"/>
          </p:cNvPicPr>
          <p:nvPr/>
        </p:nvPicPr>
        <p:blipFill>
          <a:blip r:embed="rId4"/>
          <a:stretch>
            <a:fillRect/>
          </a:stretch>
        </p:blipFill>
        <p:spPr>
          <a:xfrm>
            <a:off x="6593190" y="2112630"/>
            <a:ext cx="218724" cy="218724"/>
          </a:xfrm>
          <a:prstGeom prst="rect">
            <a:avLst/>
          </a:prstGeom>
        </p:spPr>
      </p:pic>
      <p:sp>
        <p:nvSpPr>
          <p:cNvPr id="17" name="text-21"/>
          <p:cNvSpPr txBox="1"/>
          <p:nvPr/>
        </p:nvSpPr>
        <p:spPr>
          <a:xfrm>
            <a:off x="7086600" y="2011680"/>
            <a:ext cx="4389120" cy="420624"/>
          </a:xfrm>
          <a:prstGeom prst="rect">
            <a:avLst/>
          </a:prstGeom>
          <a:noFill/>
          <a:ln/>
        </p:spPr>
        <p:txBody>
          <a:bodyPr wrap="square" lIns="0" tIns="0" rIns="0" bIns="0" rtlCol="0" anchor="ctr"/>
          <a:lstStyle/>
          <a:p>
            <a:pPr marL="0" indent="0">
              <a:buNone/>
            </a:pPr>
            <a:r>
              <a:rPr lang="en-US" sz="1500" dirty="0">
                <a:solidFill>
                  <a:schemeClr val="tx2"/>
                </a:solidFill>
              </a:rPr>
              <a:t>1.  What is WBSO</a:t>
            </a:r>
            <a:endParaRPr lang="en-US" sz="1500" dirty="0"/>
          </a:p>
        </p:txBody>
      </p:sp>
      <p:sp>
        <p:nvSpPr>
          <p:cNvPr id="18" name="icon-bg-22"/>
          <p:cNvSpPr/>
          <p:nvPr/>
        </p:nvSpPr>
        <p:spPr>
          <a:xfrm>
            <a:off x="6492240" y="2670048"/>
            <a:ext cx="420624" cy="420624"/>
          </a:xfrm>
          <a:prstGeom prst="ellipse">
            <a:avLst/>
          </a:prstGeom>
          <a:solidFill>
            <a:schemeClr val="accent1"/>
          </a:solidFill>
          <a:ln w="12700">
            <a:solidFill>
              <a:schemeClr val="accent1"/>
            </a:solidFill>
            <a:prstDash val="solid"/>
          </a:ln>
        </p:spPr>
        <p:txBody>
          <a:bodyPr/>
          <a:lstStyle/>
          <a:p>
            <a:endParaRPr lang="en-US"/>
          </a:p>
        </p:txBody>
      </p:sp>
      <p:pic>
        <p:nvPicPr>
          <p:cNvPr id="19" name="icon-23" descr="preencoded.png"/>
          <p:cNvPicPr>
            <a:picLocks noChangeAspect="1"/>
          </p:cNvPicPr>
          <p:nvPr/>
        </p:nvPicPr>
        <p:blipFill>
          <a:blip r:embed="rId5"/>
          <a:stretch>
            <a:fillRect/>
          </a:stretch>
        </p:blipFill>
        <p:spPr>
          <a:xfrm>
            <a:off x="6593190" y="2770998"/>
            <a:ext cx="218724" cy="218724"/>
          </a:xfrm>
          <a:prstGeom prst="rect">
            <a:avLst/>
          </a:prstGeom>
        </p:spPr>
      </p:pic>
      <p:sp>
        <p:nvSpPr>
          <p:cNvPr id="20" name="text-24"/>
          <p:cNvSpPr txBox="1"/>
          <p:nvPr/>
        </p:nvSpPr>
        <p:spPr>
          <a:xfrm>
            <a:off x="7086600" y="2670048"/>
            <a:ext cx="4389120" cy="420624"/>
          </a:xfrm>
          <a:prstGeom prst="rect">
            <a:avLst/>
          </a:prstGeom>
          <a:noFill/>
          <a:ln/>
        </p:spPr>
        <p:txBody>
          <a:bodyPr wrap="square" lIns="0" tIns="0" rIns="0" bIns="0" rtlCol="0" anchor="ctr"/>
          <a:lstStyle/>
          <a:p>
            <a:pPr marL="0" indent="0">
              <a:buNone/>
            </a:pPr>
            <a:r>
              <a:rPr lang="en-US" sz="1500" dirty="0">
                <a:solidFill>
                  <a:schemeClr val="tx2"/>
                </a:solidFill>
              </a:rPr>
              <a:t>2.  How Validaide uses it</a:t>
            </a:r>
            <a:endParaRPr lang="en-US" sz="1500" dirty="0"/>
          </a:p>
        </p:txBody>
      </p:sp>
      <p:sp>
        <p:nvSpPr>
          <p:cNvPr id="21" name="icon-bg-25"/>
          <p:cNvSpPr/>
          <p:nvPr/>
        </p:nvSpPr>
        <p:spPr>
          <a:xfrm>
            <a:off x="6492240" y="3328416"/>
            <a:ext cx="420624" cy="420624"/>
          </a:xfrm>
          <a:prstGeom prst="ellipse">
            <a:avLst/>
          </a:prstGeom>
          <a:solidFill>
            <a:schemeClr val="accent1"/>
          </a:solidFill>
          <a:ln w="12700">
            <a:solidFill>
              <a:schemeClr val="accent1"/>
            </a:solidFill>
            <a:prstDash val="solid"/>
          </a:ln>
        </p:spPr>
        <p:txBody>
          <a:bodyPr/>
          <a:lstStyle/>
          <a:p>
            <a:endParaRPr lang="en-US"/>
          </a:p>
        </p:txBody>
      </p:sp>
      <p:pic>
        <p:nvPicPr>
          <p:cNvPr id="22" name="icon-26" descr="preencoded.png"/>
          <p:cNvPicPr>
            <a:picLocks noChangeAspect="1"/>
          </p:cNvPicPr>
          <p:nvPr/>
        </p:nvPicPr>
        <p:blipFill>
          <a:blip r:embed="rId6"/>
          <a:stretch>
            <a:fillRect/>
          </a:stretch>
        </p:blipFill>
        <p:spPr>
          <a:xfrm>
            <a:off x="6593190" y="3429366"/>
            <a:ext cx="218724" cy="218724"/>
          </a:xfrm>
          <a:prstGeom prst="rect">
            <a:avLst/>
          </a:prstGeom>
        </p:spPr>
      </p:pic>
      <p:sp>
        <p:nvSpPr>
          <p:cNvPr id="23" name="text-27"/>
          <p:cNvSpPr txBox="1"/>
          <p:nvPr/>
        </p:nvSpPr>
        <p:spPr>
          <a:xfrm>
            <a:off x="7086600" y="3328416"/>
            <a:ext cx="4389120" cy="420624"/>
          </a:xfrm>
          <a:prstGeom prst="rect">
            <a:avLst/>
          </a:prstGeom>
          <a:noFill/>
          <a:ln/>
        </p:spPr>
        <p:txBody>
          <a:bodyPr wrap="square" lIns="0" tIns="0" rIns="0" bIns="0" rtlCol="0" anchor="ctr"/>
          <a:lstStyle/>
          <a:p>
            <a:pPr marL="0" indent="0">
              <a:buNone/>
            </a:pPr>
            <a:r>
              <a:rPr lang="en-US" sz="1500" dirty="0">
                <a:solidFill>
                  <a:schemeClr val="tx2"/>
                </a:solidFill>
              </a:rPr>
              <a:t>3.  Current project 2601</a:t>
            </a:r>
            <a:endParaRPr lang="en-US" sz="1500" dirty="0"/>
          </a:p>
        </p:txBody>
      </p:sp>
      <p:sp>
        <p:nvSpPr>
          <p:cNvPr id="24" name="icon-bg-28"/>
          <p:cNvSpPr/>
          <p:nvPr/>
        </p:nvSpPr>
        <p:spPr>
          <a:xfrm>
            <a:off x="6492240" y="3986784"/>
            <a:ext cx="420624" cy="420624"/>
          </a:xfrm>
          <a:prstGeom prst="ellipse">
            <a:avLst/>
          </a:prstGeom>
          <a:solidFill>
            <a:schemeClr val="accent1"/>
          </a:solidFill>
          <a:ln w="12700">
            <a:solidFill>
              <a:schemeClr val="accent1"/>
            </a:solidFill>
            <a:prstDash val="solid"/>
          </a:ln>
        </p:spPr>
        <p:txBody>
          <a:bodyPr/>
          <a:lstStyle/>
          <a:p>
            <a:endParaRPr lang="en-US"/>
          </a:p>
        </p:txBody>
      </p:sp>
      <p:pic>
        <p:nvPicPr>
          <p:cNvPr id="25" name="icon-29" descr="preencoded.png"/>
          <p:cNvPicPr>
            <a:picLocks noChangeAspect="1"/>
          </p:cNvPicPr>
          <p:nvPr/>
        </p:nvPicPr>
        <p:blipFill>
          <a:blip r:embed="rId7"/>
          <a:stretch>
            <a:fillRect/>
          </a:stretch>
        </p:blipFill>
        <p:spPr>
          <a:xfrm>
            <a:off x="6593190" y="4087734"/>
            <a:ext cx="218724" cy="218724"/>
          </a:xfrm>
          <a:prstGeom prst="rect">
            <a:avLst/>
          </a:prstGeom>
        </p:spPr>
      </p:pic>
      <p:sp>
        <p:nvSpPr>
          <p:cNvPr id="26" name="text-30"/>
          <p:cNvSpPr txBox="1"/>
          <p:nvPr/>
        </p:nvSpPr>
        <p:spPr>
          <a:xfrm>
            <a:off x="7086600" y="3986784"/>
            <a:ext cx="4389120" cy="420624"/>
          </a:xfrm>
          <a:prstGeom prst="rect">
            <a:avLst/>
          </a:prstGeom>
          <a:noFill/>
          <a:ln/>
        </p:spPr>
        <p:txBody>
          <a:bodyPr wrap="square" lIns="0" tIns="0" rIns="0" bIns="0" rtlCol="0" anchor="ctr"/>
          <a:lstStyle/>
          <a:p>
            <a:pPr marL="0" indent="0">
              <a:buNone/>
            </a:pPr>
            <a:r>
              <a:rPr lang="en-US" sz="1500" dirty="0">
                <a:solidFill>
                  <a:schemeClr val="tx2"/>
                </a:solidFill>
              </a:rPr>
              <a:t>4.  How we used to report vs how we report now</a:t>
            </a:r>
            <a:endParaRPr lang="en-US" sz="1500" dirty="0"/>
          </a:p>
        </p:txBody>
      </p:sp>
      <p:sp>
        <p:nvSpPr>
          <p:cNvPr id="27" name="icon-bg-31"/>
          <p:cNvSpPr/>
          <p:nvPr/>
        </p:nvSpPr>
        <p:spPr>
          <a:xfrm>
            <a:off x="6492240" y="4645152"/>
            <a:ext cx="420624" cy="420624"/>
          </a:xfrm>
          <a:prstGeom prst="ellipse">
            <a:avLst/>
          </a:prstGeom>
          <a:solidFill>
            <a:schemeClr val="accent1"/>
          </a:solidFill>
          <a:ln w="12700">
            <a:solidFill>
              <a:schemeClr val="accent1"/>
            </a:solidFill>
            <a:prstDash val="solid"/>
          </a:ln>
        </p:spPr>
        <p:txBody>
          <a:bodyPr/>
          <a:lstStyle/>
          <a:p>
            <a:endParaRPr lang="en-US"/>
          </a:p>
        </p:txBody>
      </p:sp>
      <p:pic>
        <p:nvPicPr>
          <p:cNvPr id="28" name="icon-32" descr="preencoded.png"/>
          <p:cNvPicPr>
            <a:picLocks noChangeAspect="1"/>
          </p:cNvPicPr>
          <p:nvPr/>
        </p:nvPicPr>
        <p:blipFill>
          <a:blip r:embed="rId8"/>
          <a:stretch>
            <a:fillRect/>
          </a:stretch>
        </p:blipFill>
        <p:spPr>
          <a:xfrm>
            <a:off x="6593190" y="4746102"/>
            <a:ext cx="218724" cy="218724"/>
          </a:xfrm>
          <a:prstGeom prst="rect">
            <a:avLst/>
          </a:prstGeom>
        </p:spPr>
      </p:pic>
      <p:sp>
        <p:nvSpPr>
          <p:cNvPr id="29" name="text-33"/>
          <p:cNvSpPr txBox="1"/>
          <p:nvPr/>
        </p:nvSpPr>
        <p:spPr>
          <a:xfrm>
            <a:off x="7086600" y="4645152"/>
            <a:ext cx="4389120" cy="420624"/>
          </a:xfrm>
          <a:prstGeom prst="rect">
            <a:avLst/>
          </a:prstGeom>
          <a:noFill/>
          <a:ln/>
        </p:spPr>
        <p:txBody>
          <a:bodyPr wrap="square" lIns="0" tIns="0" rIns="0" bIns="0" rtlCol="0" anchor="ctr"/>
          <a:lstStyle/>
          <a:p>
            <a:pPr marL="0" indent="0">
              <a:buNone/>
            </a:pPr>
            <a:r>
              <a:rPr lang="en-US" sz="1500" dirty="0">
                <a:solidFill>
                  <a:schemeClr val="tx2"/>
                </a:solidFill>
              </a:rPr>
              <a:t>5.  Results: January to September 2026</a:t>
            </a:r>
            <a:endParaRPr lang="en-US" sz="1500" dirty="0"/>
          </a:p>
        </p:txBody>
      </p:sp>
      <p:sp>
        <p:nvSpPr>
          <p:cNvPr id="30" name="icon-bg-34"/>
          <p:cNvSpPr/>
          <p:nvPr/>
        </p:nvSpPr>
        <p:spPr>
          <a:xfrm>
            <a:off x="6492240" y="5303520"/>
            <a:ext cx="420624" cy="420624"/>
          </a:xfrm>
          <a:prstGeom prst="ellipse">
            <a:avLst/>
          </a:prstGeom>
          <a:solidFill>
            <a:schemeClr val="accent1"/>
          </a:solidFill>
          <a:ln w="12700">
            <a:solidFill>
              <a:schemeClr val="accent1"/>
            </a:solidFill>
            <a:prstDash val="solid"/>
          </a:ln>
        </p:spPr>
        <p:txBody>
          <a:bodyPr/>
          <a:lstStyle/>
          <a:p>
            <a:endParaRPr lang="en-US"/>
          </a:p>
        </p:txBody>
      </p:sp>
      <p:pic>
        <p:nvPicPr>
          <p:cNvPr id="31" name="icon-35" descr="preencoded.png"/>
          <p:cNvPicPr>
            <a:picLocks noChangeAspect="1"/>
          </p:cNvPicPr>
          <p:nvPr/>
        </p:nvPicPr>
        <p:blipFill>
          <a:blip r:embed="rId9"/>
          <a:stretch>
            <a:fillRect/>
          </a:stretch>
        </p:blipFill>
        <p:spPr>
          <a:xfrm>
            <a:off x="6593190" y="5404470"/>
            <a:ext cx="218724" cy="218724"/>
          </a:xfrm>
          <a:prstGeom prst="rect">
            <a:avLst/>
          </a:prstGeom>
        </p:spPr>
      </p:pic>
      <p:sp>
        <p:nvSpPr>
          <p:cNvPr id="32" name="text-36"/>
          <p:cNvSpPr txBox="1"/>
          <p:nvPr/>
        </p:nvSpPr>
        <p:spPr>
          <a:xfrm>
            <a:off x="7086600" y="5303520"/>
            <a:ext cx="4389120" cy="420624"/>
          </a:xfrm>
          <a:prstGeom prst="rect">
            <a:avLst/>
          </a:prstGeom>
          <a:noFill/>
          <a:ln/>
        </p:spPr>
        <p:txBody>
          <a:bodyPr wrap="square" lIns="0" tIns="0" rIns="0" bIns="0" rtlCol="0" anchor="ctr"/>
          <a:lstStyle/>
          <a:p>
            <a:pPr marL="0" indent="0">
              <a:buNone/>
            </a:pPr>
            <a:r>
              <a:rPr lang="en-US" sz="1500" dirty="0">
                <a:solidFill>
                  <a:schemeClr val="tx2"/>
                </a:solidFill>
              </a:rPr>
              <a:t>6.  Owner’s routine, watch-outs and Q&amp;A</a:t>
            </a:r>
            <a:endParaRPr lang="en-US" sz="1500" dirty="0"/>
          </a:p>
        </p:txBody>
      </p:sp>
      <p:sp>
        <p:nvSpPr>
          <p:cNvPr id="33"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What is WBSO</a:t>
            </a:r>
            <a:endParaRPr lang="en-US" sz="3000" dirty="0"/>
          </a:p>
        </p:txBody>
      </p:sp>
      <p:sp>
        <p:nvSpPr>
          <p:cNvPr id="3" name="text-37"/>
          <p:cNvSpPr txBox="1"/>
          <p:nvPr/>
        </p:nvSpPr>
        <p:spPr>
          <a:xfrm>
            <a:off x="548640" y="1371600"/>
            <a:ext cx="3931920" cy="1645920"/>
          </a:xfrm>
          <a:prstGeom prst="rect">
            <a:avLst/>
          </a:prstGeom>
          <a:noFill/>
          <a:ln/>
        </p:spPr>
        <p:txBody>
          <a:bodyPr wrap="square" lIns="0" tIns="0" rIns="0" bIns="0" rtlCol="0" anchor="t"/>
          <a:lstStyle/>
          <a:p>
            <a:pPr marL="0" indent="0">
              <a:lnSpc>
                <a:spcPct val="115000"/>
              </a:lnSpc>
              <a:buNone/>
            </a:pPr>
            <a:r>
              <a:rPr lang="en-US" sz="1400" b="1" dirty="0">
                <a:solidFill>
                  <a:schemeClr val="tx2"/>
                </a:solidFill>
              </a:rPr>
              <a:t>Wet Bevordering Speur- en Ontwikkelingswerk</a:t>
            </a:r>
            <a:endParaRPr lang="en-US" sz="1400" dirty="0"/>
          </a:p>
          <a:p>
            <a:pPr marL="0" indent="0">
              <a:lnSpc>
                <a:spcPct val="115000"/>
              </a:lnSpc>
              <a:buNone/>
            </a:pPr>
            <a:r>
              <a:rPr lang="en-US" sz="1400" dirty="0">
                <a:solidFill>
                  <a:schemeClr val="tx1"/>
                </a:solidFill>
              </a:rPr>
              <a:t>A Dutch tax incentive for research and development (S&amp;O), run by RVO on behalf of the Ministry of Economic Affairs. Around 20,000 companies use it every year.</a:t>
            </a:r>
            <a:endParaRPr lang="en-US" sz="1400" dirty="0"/>
          </a:p>
        </p:txBody>
      </p:sp>
      <p:sp>
        <p:nvSpPr>
          <p:cNvPr id="4" name="text-38"/>
          <p:cNvSpPr txBox="1"/>
          <p:nvPr/>
        </p:nvSpPr>
        <p:spPr>
          <a:xfrm>
            <a:off x="548640" y="3154680"/>
            <a:ext cx="3931920" cy="1005840"/>
          </a:xfrm>
          <a:prstGeom prst="rect">
            <a:avLst/>
          </a:prstGeom>
          <a:noFill/>
          <a:ln/>
        </p:spPr>
        <p:txBody>
          <a:bodyPr wrap="square" lIns="0" tIns="0" rIns="0" bIns="0" rtlCol="0" anchor="t"/>
          <a:lstStyle/>
          <a:p>
            <a:pPr marL="0" indent="0">
              <a:buNone/>
            </a:pPr>
            <a:r>
              <a:rPr lang="en-US" sz="6600" b="1" dirty="0">
                <a:solidFill>
                  <a:schemeClr val="accent1"/>
                </a:solidFill>
              </a:rPr>
              <a:t>36%</a:t>
            </a:r>
            <a:endParaRPr lang="en-US" sz="6600" dirty="0"/>
          </a:p>
        </p:txBody>
      </p:sp>
      <p:sp>
        <p:nvSpPr>
          <p:cNvPr id="5" name="text-39"/>
          <p:cNvSpPr txBox="1"/>
          <p:nvPr/>
        </p:nvSpPr>
        <p:spPr>
          <a:xfrm>
            <a:off x="548640" y="4206240"/>
            <a:ext cx="3931920" cy="1280160"/>
          </a:xfrm>
          <a:prstGeom prst="rect">
            <a:avLst/>
          </a:prstGeom>
          <a:noFill/>
          <a:ln/>
        </p:spPr>
        <p:txBody>
          <a:bodyPr wrap="square" lIns="0" tIns="0" rIns="0" bIns="0" rtlCol="0" anchor="t"/>
          <a:lstStyle/>
          <a:p>
            <a:pPr marL="0" indent="0">
              <a:lnSpc>
                <a:spcPct val="115000"/>
              </a:lnSpc>
              <a:buNone/>
            </a:pPr>
            <a:r>
              <a:rPr lang="en-US" sz="1300" dirty="0">
                <a:solidFill>
                  <a:schemeClr val="accent6"/>
                </a:solidFill>
              </a:rPr>
              <a:t>of the S&amp;O base comes back as a reduction of payroll tax. 2026: 36% on the first €391,020 of base, 16% above it, 50% for starters.</a:t>
            </a:r>
            <a:endParaRPr lang="en-US" sz="1300" dirty="0"/>
          </a:p>
        </p:txBody>
      </p:sp>
      <p:sp>
        <p:nvSpPr>
          <p:cNvPr id="6" name="card-40"/>
          <p:cNvSpPr/>
          <p:nvPr/>
        </p:nvSpPr>
        <p:spPr>
          <a:xfrm>
            <a:off x="4892040" y="1371600"/>
            <a:ext cx="6766560" cy="1417320"/>
          </a:xfrm>
          <a:prstGeom prst="roundRect">
            <a:avLst>
              <a:gd name="adj" fmla="val 6452"/>
            </a:avLst>
          </a:prstGeom>
          <a:solidFill>
            <a:schemeClr val="bg2"/>
          </a:solidFill>
          <a:ln w="12700">
            <a:solidFill>
              <a:schemeClr val="bg2"/>
            </a:solidFill>
            <a:prstDash val="solid"/>
          </a:ln>
        </p:spPr>
        <p:txBody>
          <a:bodyPr/>
          <a:lstStyle/>
          <a:p>
            <a:endParaRPr lang="en-US"/>
          </a:p>
        </p:txBody>
      </p:sp>
      <p:sp>
        <p:nvSpPr>
          <p:cNvPr id="7" name="icon-bg-41"/>
          <p:cNvSpPr/>
          <p:nvPr/>
        </p:nvSpPr>
        <p:spPr>
          <a:xfrm>
            <a:off x="5120640" y="1755648"/>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8" name="icon-42" descr="preencoded.png"/>
          <p:cNvPicPr>
            <a:picLocks noChangeAspect="1"/>
          </p:cNvPicPr>
          <p:nvPr/>
        </p:nvPicPr>
        <p:blipFill>
          <a:blip r:embed="rId3"/>
          <a:stretch>
            <a:fillRect/>
          </a:stretch>
        </p:blipFill>
        <p:spPr>
          <a:xfrm>
            <a:off x="5274259" y="1909267"/>
            <a:ext cx="332842" cy="332842"/>
          </a:xfrm>
          <a:prstGeom prst="rect">
            <a:avLst/>
          </a:prstGeom>
        </p:spPr>
      </p:pic>
      <p:sp>
        <p:nvSpPr>
          <p:cNvPr id="9" name="text-43"/>
          <p:cNvSpPr txBox="1"/>
          <p:nvPr/>
        </p:nvSpPr>
        <p:spPr>
          <a:xfrm>
            <a:off x="5989320" y="1536192"/>
            <a:ext cx="5486400" cy="320040"/>
          </a:xfrm>
          <a:prstGeom prst="rect">
            <a:avLst/>
          </a:prstGeom>
          <a:noFill/>
          <a:ln/>
        </p:spPr>
        <p:txBody>
          <a:bodyPr wrap="square" lIns="0" tIns="0" rIns="0" bIns="0" rtlCol="0" anchor="t"/>
          <a:lstStyle/>
          <a:p>
            <a:pPr marL="0" indent="0">
              <a:buNone/>
            </a:pPr>
            <a:r>
              <a:rPr lang="en-US" sz="1500" b="1" dirty="0">
                <a:solidFill>
                  <a:schemeClr val="tx2"/>
                </a:solidFill>
              </a:rPr>
              <a:t>What qualifies</a:t>
            </a:r>
            <a:endParaRPr lang="en-US" sz="1500" dirty="0"/>
          </a:p>
        </p:txBody>
      </p:sp>
      <p:sp>
        <p:nvSpPr>
          <p:cNvPr id="10" name="text-44"/>
          <p:cNvSpPr txBox="1"/>
          <p:nvPr/>
        </p:nvSpPr>
        <p:spPr>
          <a:xfrm>
            <a:off x="5989320" y="1874520"/>
            <a:ext cx="5486400" cy="868680"/>
          </a:xfrm>
          <a:prstGeom prst="rect">
            <a:avLst/>
          </a:prstGeom>
          <a:noFill/>
          <a:ln/>
        </p:spPr>
        <p:txBody>
          <a:bodyPr wrap="square" lIns="0" tIns="0" rIns="0" bIns="0" rtlCol="0" anchor="t"/>
          <a:lstStyle/>
          <a:p>
            <a:pPr marL="0" indent="0">
              <a:lnSpc>
                <a:spcPct val="110000"/>
              </a:lnSpc>
              <a:buNone/>
            </a:pPr>
            <a:r>
              <a:rPr lang="en-US" sz="1200" dirty="0">
                <a:solidFill>
                  <a:schemeClr val="tx1"/>
                </a:solidFill>
              </a:rPr>
              <a:t>Technically new software, product or production process, with real technical uncertainty you solve yourself. Planned work, carried out inside the EU, applied for before it starts.</a:t>
            </a:r>
            <a:endParaRPr lang="en-US" sz="1200" dirty="0"/>
          </a:p>
        </p:txBody>
      </p:sp>
      <p:sp>
        <p:nvSpPr>
          <p:cNvPr id="11" name="card-45"/>
          <p:cNvSpPr/>
          <p:nvPr/>
        </p:nvSpPr>
        <p:spPr>
          <a:xfrm>
            <a:off x="4892040" y="2944368"/>
            <a:ext cx="6766560" cy="1417320"/>
          </a:xfrm>
          <a:prstGeom prst="roundRect">
            <a:avLst>
              <a:gd name="adj" fmla="val 6452"/>
            </a:avLst>
          </a:prstGeom>
          <a:solidFill>
            <a:schemeClr val="bg2"/>
          </a:solidFill>
          <a:ln w="12700">
            <a:solidFill>
              <a:schemeClr val="bg2"/>
            </a:solidFill>
            <a:prstDash val="solid"/>
          </a:ln>
        </p:spPr>
        <p:txBody>
          <a:bodyPr/>
          <a:lstStyle/>
          <a:p>
            <a:endParaRPr lang="en-US"/>
          </a:p>
        </p:txBody>
      </p:sp>
      <p:sp>
        <p:nvSpPr>
          <p:cNvPr id="12" name="icon-bg-46"/>
          <p:cNvSpPr/>
          <p:nvPr/>
        </p:nvSpPr>
        <p:spPr>
          <a:xfrm>
            <a:off x="5120640" y="3328416"/>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3" name="icon-47" descr="preencoded.png"/>
          <p:cNvPicPr>
            <a:picLocks noChangeAspect="1"/>
          </p:cNvPicPr>
          <p:nvPr/>
        </p:nvPicPr>
        <p:blipFill>
          <a:blip r:embed="rId4"/>
          <a:stretch>
            <a:fillRect/>
          </a:stretch>
        </p:blipFill>
        <p:spPr>
          <a:xfrm>
            <a:off x="5274259" y="3482035"/>
            <a:ext cx="332842" cy="332842"/>
          </a:xfrm>
          <a:prstGeom prst="rect">
            <a:avLst/>
          </a:prstGeom>
        </p:spPr>
      </p:pic>
      <p:sp>
        <p:nvSpPr>
          <p:cNvPr id="14" name="text-48"/>
          <p:cNvSpPr txBox="1"/>
          <p:nvPr/>
        </p:nvSpPr>
        <p:spPr>
          <a:xfrm>
            <a:off x="5989320" y="3108960"/>
            <a:ext cx="5486400" cy="320040"/>
          </a:xfrm>
          <a:prstGeom prst="rect">
            <a:avLst/>
          </a:prstGeom>
          <a:noFill/>
          <a:ln/>
        </p:spPr>
        <p:txBody>
          <a:bodyPr wrap="square" lIns="0" tIns="0" rIns="0" bIns="0" rtlCol="0" anchor="t"/>
          <a:lstStyle/>
          <a:p>
            <a:pPr marL="0" indent="0">
              <a:buNone/>
            </a:pPr>
            <a:r>
              <a:rPr lang="en-US" sz="1500" b="1" dirty="0">
                <a:solidFill>
                  <a:schemeClr val="tx2"/>
                </a:solidFill>
              </a:rPr>
              <a:t>What you get</a:t>
            </a:r>
            <a:endParaRPr lang="en-US" sz="1500" dirty="0"/>
          </a:p>
        </p:txBody>
      </p:sp>
      <p:sp>
        <p:nvSpPr>
          <p:cNvPr id="15" name="text-49"/>
          <p:cNvSpPr txBox="1"/>
          <p:nvPr/>
        </p:nvSpPr>
        <p:spPr>
          <a:xfrm>
            <a:off x="5989320" y="3447288"/>
            <a:ext cx="5486400" cy="868680"/>
          </a:xfrm>
          <a:prstGeom prst="rect">
            <a:avLst/>
          </a:prstGeom>
          <a:noFill/>
          <a:ln/>
        </p:spPr>
        <p:txBody>
          <a:bodyPr wrap="square" lIns="0" tIns="0" rIns="0" bIns="0" rtlCol="0" anchor="t"/>
          <a:lstStyle/>
          <a:p>
            <a:pPr marL="0" indent="0">
              <a:lnSpc>
                <a:spcPct val="110000"/>
              </a:lnSpc>
              <a:buNone/>
            </a:pPr>
            <a:r>
              <a:rPr lang="en-US" sz="1200" dirty="0">
                <a:solidFill>
                  <a:schemeClr val="tx1"/>
                </a:solidFill>
              </a:rPr>
              <a:t>Base = S&amp;O hours × S&amp;O hourly wage + a flat-rate cost allowance (€10/h for the first 1,800 h, €4/h above). The percentage of that base is the benefit.</a:t>
            </a:r>
            <a:endParaRPr lang="en-US" sz="1200" dirty="0"/>
          </a:p>
        </p:txBody>
      </p:sp>
      <p:sp>
        <p:nvSpPr>
          <p:cNvPr id="16" name="card-50"/>
          <p:cNvSpPr/>
          <p:nvPr/>
        </p:nvSpPr>
        <p:spPr>
          <a:xfrm>
            <a:off x="4892040" y="4517136"/>
            <a:ext cx="6766560" cy="1417320"/>
          </a:xfrm>
          <a:prstGeom prst="roundRect">
            <a:avLst>
              <a:gd name="adj" fmla="val 6452"/>
            </a:avLst>
          </a:prstGeom>
          <a:solidFill>
            <a:schemeClr val="bg2"/>
          </a:solidFill>
          <a:ln w="12700">
            <a:solidFill>
              <a:schemeClr val="bg2"/>
            </a:solidFill>
            <a:prstDash val="solid"/>
          </a:ln>
        </p:spPr>
        <p:txBody>
          <a:bodyPr/>
          <a:lstStyle/>
          <a:p>
            <a:endParaRPr lang="en-US"/>
          </a:p>
        </p:txBody>
      </p:sp>
      <p:sp>
        <p:nvSpPr>
          <p:cNvPr id="17" name="icon-bg-51"/>
          <p:cNvSpPr/>
          <p:nvPr/>
        </p:nvSpPr>
        <p:spPr>
          <a:xfrm>
            <a:off x="5120640" y="4901184"/>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8" name="icon-52" descr="preencoded.png"/>
          <p:cNvPicPr>
            <a:picLocks noChangeAspect="1"/>
          </p:cNvPicPr>
          <p:nvPr/>
        </p:nvPicPr>
        <p:blipFill>
          <a:blip r:embed="rId5"/>
          <a:stretch>
            <a:fillRect/>
          </a:stretch>
        </p:blipFill>
        <p:spPr>
          <a:xfrm>
            <a:off x="5274259" y="5054803"/>
            <a:ext cx="332842" cy="332842"/>
          </a:xfrm>
          <a:prstGeom prst="rect">
            <a:avLst/>
          </a:prstGeom>
        </p:spPr>
      </p:pic>
      <p:sp>
        <p:nvSpPr>
          <p:cNvPr id="19" name="text-53"/>
          <p:cNvSpPr txBox="1"/>
          <p:nvPr/>
        </p:nvSpPr>
        <p:spPr>
          <a:xfrm>
            <a:off x="5989320" y="4681728"/>
            <a:ext cx="5486400" cy="320040"/>
          </a:xfrm>
          <a:prstGeom prst="rect">
            <a:avLst/>
          </a:prstGeom>
          <a:noFill/>
          <a:ln/>
        </p:spPr>
        <p:txBody>
          <a:bodyPr wrap="square" lIns="0" tIns="0" rIns="0" bIns="0" rtlCol="0" anchor="t"/>
          <a:lstStyle/>
          <a:p>
            <a:pPr marL="0" indent="0">
              <a:buNone/>
            </a:pPr>
            <a:r>
              <a:rPr lang="en-US" sz="1500" b="1" dirty="0">
                <a:solidFill>
                  <a:schemeClr val="tx2"/>
                </a:solidFill>
              </a:rPr>
              <a:t>How it is paid</a:t>
            </a:r>
            <a:endParaRPr lang="en-US" sz="1500" dirty="0"/>
          </a:p>
        </p:txBody>
      </p:sp>
      <p:sp>
        <p:nvSpPr>
          <p:cNvPr id="20" name="text-54"/>
          <p:cNvSpPr txBox="1"/>
          <p:nvPr/>
        </p:nvSpPr>
        <p:spPr>
          <a:xfrm>
            <a:off x="5989320" y="5020056"/>
            <a:ext cx="5486400" cy="868680"/>
          </a:xfrm>
          <a:prstGeom prst="rect">
            <a:avLst/>
          </a:prstGeom>
          <a:noFill/>
          <a:ln/>
        </p:spPr>
        <p:txBody>
          <a:bodyPr wrap="square" lIns="0" tIns="0" rIns="0" bIns="0" rtlCol="0" anchor="t"/>
          <a:lstStyle/>
          <a:p>
            <a:pPr marL="0" indent="0">
              <a:lnSpc>
                <a:spcPct val="110000"/>
              </a:lnSpc>
              <a:buNone/>
            </a:pPr>
            <a:r>
              <a:rPr lang="en-US" sz="1200" dirty="0">
                <a:solidFill>
                  <a:schemeClr val="tx1"/>
                </a:solidFill>
              </a:rPr>
              <a:t>Validaide B.V. deducts it from the payroll tax it remits during the year. After the year, RVO settles on the hours actually realised and corrects what was not.</a:t>
            </a:r>
            <a:endParaRPr lang="en-US" sz="1200" dirty="0"/>
          </a:p>
        </p:txBody>
      </p:sp>
      <p:sp>
        <p:nvSpPr>
          <p:cNvPr id="25"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The WBSO cycle and our obligations</a:t>
            </a:r>
            <a:endParaRPr lang="en-US" sz="3000" dirty="0"/>
          </a:p>
        </p:txBody>
      </p:sp>
      <p:sp>
        <p:nvSpPr>
          <p:cNvPr id="3" name="card-55"/>
          <p:cNvSpPr/>
          <p:nvPr/>
        </p:nvSpPr>
        <p:spPr>
          <a:xfrm>
            <a:off x="548640" y="1371600"/>
            <a:ext cx="2103120" cy="306324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4" name="icon-bg-56"/>
          <p:cNvSpPr/>
          <p:nvPr/>
        </p:nvSpPr>
        <p:spPr>
          <a:xfrm>
            <a:off x="777240" y="160020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5" name="icon-57" descr="preencoded.png"/>
          <p:cNvPicPr>
            <a:picLocks noChangeAspect="1"/>
          </p:cNvPicPr>
          <p:nvPr/>
        </p:nvPicPr>
        <p:blipFill>
          <a:blip r:embed="rId3"/>
          <a:stretch>
            <a:fillRect/>
          </a:stretch>
        </p:blipFill>
        <p:spPr>
          <a:xfrm>
            <a:off x="908914" y="1731874"/>
            <a:ext cx="285293" cy="285293"/>
          </a:xfrm>
          <a:prstGeom prst="rect">
            <a:avLst/>
          </a:prstGeom>
        </p:spPr>
      </p:pic>
      <p:sp>
        <p:nvSpPr>
          <p:cNvPr id="6" name="text-58"/>
          <p:cNvSpPr txBox="1"/>
          <p:nvPr/>
        </p:nvSpPr>
        <p:spPr>
          <a:xfrm>
            <a:off x="2057400" y="1600200"/>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1</a:t>
            </a:r>
            <a:endParaRPr lang="en-US" sz="2600" dirty="0"/>
          </a:p>
        </p:txBody>
      </p:sp>
      <p:sp>
        <p:nvSpPr>
          <p:cNvPr id="7" name="text-59"/>
          <p:cNvSpPr txBox="1"/>
          <p:nvPr/>
        </p:nvSpPr>
        <p:spPr>
          <a:xfrm>
            <a:off x="777240" y="2286000"/>
            <a:ext cx="1691640" cy="548640"/>
          </a:xfrm>
          <a:prstGeom prst="rect">
            <a:avLst/>
          </a:prstGeom>
          <a:noFill/>
          <a:ln/>
        </p:spPr>
        <p:txBody>
          <a:bodyPr wrap="square" lIns="0" tIns="0" rIns="0" bIns="0" rtlCol="0" anchor="t"/>
          <a:lstStyle/>
          <a:p>
            <a:pPr marL="0" indent="0">
              <a:buNone/>
            </a:pPr>
            <a:r>
              <a:rPr lang="en-US" sz="1400" b="1" dirty="0">
                <a:solidFill>
                  <a:schemeClr val="tx2"/>
                </a:solidFill>
              </a:rPr>
              <a:t>Apply</a:t>
            </a:r>
            <a:endParaRPr lang="en-US" sz="1400" dirty="0"/>
          </a:p>
        </p:txBody>
      </p:sp>
      <p:sp>
        <p:nvSpPr>
          <p:cNvPr id="8" name="text-60"/>
          <p:cNvSpPr txBox="1"/>
          <p:nvPr/>
        </p:nvSpPr>
        <p:spPr>
          <a:xfrm>
            <a:off x="777240" y="2834640"/>
            <a:ext cx="1691640" cy="155448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Before the year starts, via our intermediary SubVice. One project description, hours and phases. 2027 round opens mid-November 2026.</a:t>
            </a:r>
            <a:endParaRPr lang="en-US" sz="1100" dirty="0"/>
          </a:p>
        </p:txBody>
      </p:sp>
      <p:sp>
        <p:nvSpPr>
          <p:cNvPr id="9" name="card-61"/>
          <p:cNvSpPr/>
          <p:nvPr/>
        </p:nvSpPr>
        <p:spPr>
          <a:xfrm>
            <a:off x="2834640" y="1371600"/>
            <a:ext cx="2103120" cy="306324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10" name="icon-bg-62"/>
          <p:cNvSpPr/>
          <p:nvPr/>
        </p:nvSpPr>
        <p:spPr>
          <a:xfrm>
            <a:off x="3063240" y="160020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1" name="icon-63" descr="preencoded.png"/>
          <p:cNvPicPr>
            <a:picLocks noChangeAspect="1"/>
          </p:cNvPicPr>
          <p:nvPr/>
        </p:nvPicPr>
        <p:blipFill>
          <a:blip r:embed="rId4"/>
          <a:stretch>
            <a:fillRect/>
          </a:stretch>
        </p:blipFill>
        <p:spPr>
          <a:xfrm>
            <a:off x="3194914" y="1731874"/>
            <a:ext cx="285293" cy="285293"/>
          </a:xfrm>
          <a:prstGeom prst="rect">
            <a:avLst/>
          </a:prstGeom>
        </p:spPr>
      </p:pic>
      <p:sp>
        <p:nvSpPr>
          <p:cNvPr id="12" name="text-64"/>
          <p:cNvSpPr txBox="1"/>
          <p:nvPr/>
        </p:nvSpPr>
        <p:spPr>
          <a:xfrm>
            <a:off x="4343400" y="1600200"/>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2</a:t>
            </a:r>
            <a:endParaRPr lang="en-US" sz="2600" dirty="0"/>
          </a:p>
        </p:txBody>
      </p:sp>
      <p:sp>
        <p:nvSpPr>
          <p:cNvPr id="13" name="text-65"/>
          <p:cNvSpPr txBox="1"/>
          <p:nvPr/>
        </p:nvSpPr>
        <p:spPr>
          <a:xfrm>
            <a:off x="3063240" y="2286000"/>
            <a:ext cx="1691640" cy="548640"/>
          </a:xfrm>
          <a:prstGeom prst="rect">
            <a:avLst/>
          </a:prstGeom>
          <a:noFill/>
          <a:ln/>
        </p:spPr>
        <p:txBody>
          <a:bodyPr wrap="square" lIns="0" tIns="0" rIns="0" bIns="0" rtlCol="0" anchor="t"/>
          <a:lstStyle/>
          <a:p>
            <a:pPr marL="0" indent="0">
              <a:buNone/>
            </a:pPr>
            <a:r>
              <a:rPr lang="en-US" sz="1400" b="1" dirty="0">
                <a:solidFill>
                  <a:schemeClr val="tx2"/>
                </a:solidFill>
              </a:rPr>
              <a:t>Decision</a:t>
            </a:r>
            <a:endParaRPr lang="en-US" sz="1400" dirty="0"/>
          </a:p>
        </p:txBody>
      </p:sp>
      <p:sp>
        <p:nvSpPr>
          <p:cNvPr id="14" name="text-66"/>
          <p:cNvSpPr txBox="1"/>
          <p:nvPr/>
        </p:nvSpPr>
        <p:spPr>
          <a:xfrm>
            <a:off x="3063240" y="2834640"/>
            <a:ext cx="1691640" cy="155448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RVO issues the S&amp;O-verklaring with granted hours and the maximum benefit. 2026: decided 20 February 2026.</a:t>
            </a:r>
            <a:endParaRPr lang="en-US" sz="1100" dirty="0"/>
          </a:p>
        </p:txBody>
      </p:sp>
      <p:sp>
        <p:nvSpPr>
          <p:cNvPr id="15" name="card-67"/>
          <p:cNvSpPr/>
          <p:nvPr/>
        </p:nvSpPr>
        <p:spPr>
          <a:xfrm>
            <a:off x="5120640" y="1371600"/>
            <a:ext cx="2103120" cy="306324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16" name="icon-bg-68"/>
          <p:cNvSpPr/>
          <p:nvPr/>
        </p:nvSpPr>
        <p:spPr>
          <a:xfrm>
            <a:off x="5349240" y="160020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7" name="icon-69" descr="preencoded.png"/>
          <p:cNvPicPr>
            <a:picLocks noChangeAspect="1"/>
          </p:cNvPicPr>
          <p:nvPr/>
        </p:nvPicPr>
        <p:blipFill>
          <a:blip r:embed="rId5"/>
          <a:stretch>
            <a:fillRect/>
          </a:stretch>
        </p:blipFill>
        <p:spPr>
          <a:xfrm>
            <a:off x="5480914" y="1731874"/>
            <a:ext cx="285293" cy="285293"/>
          </a:xfrm>
          <a:prstGeom prst="rect">
            <a:avLst/>
          </a:prstGeom>
        </p:spPr>
      </p:pic>
      <p:sp>
        <p:nvSpPr>
          <p:cNvPr id="18" name="text-70"/>
          <p:cNvSpPr txBox="1"/>
          <p:nvPr/>
        </p:nvSpPr>
        <p:spPr>
          <a:xfrm>
            <a:off x="6629400" y="1600200"/>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3</a:t>
            </a:r>
            <a:endParaRPr lang="en-US" sz="2600" dirty="0"/>
          </a:p>
        </p:txBody>
      </p:sp>
      <p:sp>
        <p:nvSpPr>
          <p:cNvPr id="19" name="text-71"/>
          <p:cNvSpPr txBox="1"/>
          <p:nvPr/>
        </p:nvSpPr>
        <p:spPr>
          <a:xfrm>
            <a:off x="5349240" y="2286000"/>
            <a:ext cx="1691640" cy="548640"/>
          </a:xfrm>
          <a:prstGeom prst="rect">
            <a:avLst/>
          </a:prstGeom>
          <a:noFill/>
          <a:ln/>
        </p:spPr>
        <p:txBody>
          <a:bodyPr wrap="square" lIns="0" tIns="0" rIns="0" bIns="0" rtlCol="0" anchor="t"/>
          <a:lstStyle/>
          <a:p>
            <a:pPr marL="0" indent="0">
              <a:buNone/>
            </a:pPr>
            <a:r>
              <a:rPr lang="en-US" sz="1400" b="1" dirty="0">
                <a:solidFill>
                  <a:schemeClr val="tx2"/>
                </a:solidFill>
              </a:rPr>
              <a:t>Do the R&amp;D, keep records</a:t>
            </a:r>
            <a:endParaRPr lang="en-US" sz="1400" dirty="0"/>
          </a:p>
        </p:txBody>
      </p:sp>
      <p:sp>
        <p:nvSpPr>
          <p:cNvPr id="20" name="text-72"/>
          <p:cNvSpPr txBox="1"/>
          <p:nvPr/>
        </p:nvSpPr>
        <p:spPr>
          <a:xfrm>
            <a:off x="5349240" y="2834640"/>
            <a:ext cx="1691640" cy="155448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Hours per person, per project, per day, plus evidence of progress. Must be up to date and consistent with leave and sick records.</a:t>
            </a:r>
            <a:endParaRPr lang="en-US" sz="1100" dirty="0"/>
          </a:p>
        </p:txBody>
      </p:sp>
      <p:sp>
        <p:nvSpPr>
          <p:cNvPr id="21" name="card-73"/>
          <p:cNvSpPr/>
          <p:nvPr/>
        </p:nvSpPr>
        <p:spPr>
          <a:xfrm>
            <a:off x="7406640" y="1371600"/>
            <a:ext cx="2103120" cy="306324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22" name="icon-bg-74"/>
          <p:cNvSpPr/>
          <p:nvPr/>
        </p:nvSpPr>
        <p:spPr>
          <a:xfrm>
            <a:off x="7635240" y="160020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23" name="icon-75" descr="preencoded.png"/>
          <p:cNvPicPr>
            <a:picLocks noChangeAspect="1"/>
          </p:cNvPicPr>
          <p:nvPr/>
        </p:nvPicPr>
        <p:blipFill>
          <a:blip r:embed="rId6"/>
          <a:stretch>
            <a:fillRect/>
          </a:stretch>
        </p:blipFill>
        <p:spPr>
          <a:xfrm>
            <a:off x="7766914" y="1731874"/>
            <a:ext cx="285293" cy="285293"/>
          </a:xfrm>
          <a:prstGeom prst="rect">
            <a:avLst/>
          </a:prstGeom>
        </p:spPr>
      </p:pic>
      <p:sp>
        <p:nvSpPr>
          <p:cNvPr id="24" name="text-76"/>
          <p:cNvSpPr txBox="1"/>
          <p:nvPr/>
        </p:nvSpPr>
        <p:spPr>
          <a:xfrm>
            <a:off x="8915400" y="1600200"/>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4</a:t>
            </a:r>
            <a:endParaRPr lang="en-US" sz="2600" dirty="0"/>
          </a:p>
        </p:txBody>
      </p:sp>
      <p:sp>
        <p:nvSpPr>
          <p:cNvPr id="25" name="text-77"/>
          <p:cNvSpPr txBox="1"/>
          <p:nvPr/>
        </p:nvSpPr>
        <p:spPr>
          <a:xfrm>
            <a:off x="7635240" y="2286000"/>
            <a:ext cx="1691640" cy="548640"/>
          </a:xfrm>
          <a:prstGeom prst="rect">
            <a:avLst/>
          </a:prstGeom>
          <a:noFill/>
          <a:ln/>
        </p:spPr>
        <p:txBody>
          <a:bodyPr wrap="square" lIns="0" tIns="0" rIns="0" bIns="0" rtlCol="0" anchor="t"/>
          <a:lstStyle/>
          <a:p>
            <a:pPr marL="0" indent="0">
              <a:buNone/>
            </a:pPr>
            <a:r>
              <a:rPr lang="en-US" sz="1400" b="1" dirty="0">
                <a:solidFill>
                  <a:schemeClr val="tx2"/>
                </a:solidFill>
              </a:rPr>
              <a:t>Report realisation</a:t>
            </a:r>
            <a:endParaRPr lang="en-US" sz="1400" dirty="0"/>
          </a:p>
        </p:txBody>
      </p:sp>
      <p:sp>
        <p:nvSpPr>
          <p:cNvPr id="26" name="text-78"/>
          <p:cNvSpPr txBox="1"/>
          <p:nvPr/>
        </p:nvSpPr>
        <p:spPr>
          <a:xfrm>
            <a:off x="7635240" y="2834640"/>
            <a:ext cx="1691640" cy="155448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Mededeling of realised hours by 31 March of the next year, plus the BSN notification of the S&amp;O staff. Late means a fine.</a:t>
            </a:r>
            <a:endParaRPr lang="en-US" sz="1100" dirty="0"/>
          </a:p>
        </p:txBody>
      </p:sp>
      <p:sp>
        <p:nvSpPr>
          <p:cNvPr id="27" name="card-79"/>
          <p:cNvSpPr/>
          <p:nvPr/>
        </p:nvSpPr>
        <p:spPr>
          <a:xfrm>
            <a:off x="9692640" y="1371600"/>
            <a:ext cx="2103120" cy="306324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28" name="icon-bg-80"/>
          <p:cNvSpPr/>
          <p:nvPr/>
        </p:nvSpPr>
        <p:spPr>
          <a:xfrm>
            <a:off x="9921240" y="160020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29" name="icon-81" descr="preencoded.png"/>
          <p:cNvPicPr>
            <a:picLocks noChangeAspect="1"/>
          </p:cNvPicPr>
          <p:nvPr/>
        </p:nvPicPr>
        <p:blipFill>
          <a:blip r:embed="rId7"/>
          <a:stretch>
            <a:fillRect/>
          </a:stretch>
        </p:blipFill>
        <p:spPr>
          <a:xfrm>
            <a:off x="10052914" y="1731874"/>
            <a:ext cx="285293" cy="285293"/>
          </a:xfrm>
          <a:prstGeom prst="rect">
            <a:avLst/>
          </a:prstGeom>
        </p:spPr>
      </p:pic>
      <p:sp>
        <p:nvSpPr>
          <p:cNvPr id="30" name="text-82"/>
          <p:cNvSpPr txBox="1"/>
          <p:nvPr/>
        </p:nvSpPr>
        <p:spPr>
          <a:xfrm>
            <a:off x="11201400" y="1600200"/>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5</a:t>
            </a:r>
            <a:endParaRPr lang="en-US" sz="2600" dirty="0"/>
          </a:p>
        </p:txBody>
      </p:sp>
      <p:sp>
        <p:nvSpPr>
          <p:cNvPr id="31" name="text-83"/>
          <p:cNvSpPr txBox="1"/>
          <p:nvPr/>
        </p:nvSpPr>
        <p:spPr>
          <a:xfrm>
            <a:off x="9921240" y="2286000"/>
            <a:ext cx="1691640" cy="548640"/>
          </a:xfrm>
          <a:prstGeom prst="rect">
            <a:avLst/>
          </a:prstGeom>
          <a:noFill/>
          <a:ln/>
        </p:spPr>
        <p:txBody>
          <a:bodyPr wrap="square" lIns="0" tIns="0" rIns="0" bIns="0" rtlCol="0" anchor="t"/>
          <a:lstStyle/>
          <a:p>
            <a:pPr marL="0" indent="0">
              <a:buNone/>
            </a:pPr>
            <a:r>
              <a:rPr lang="en-US" sz="1400" b="1" dirty="0">
                <a:solidFill>
                  <a:schemeClr val="tx2"/>
                </a:solidFill>
              </a:rPr>
              <a:t>Settlement</a:t>
            </a:r>
            <a:endParaRPr lang="en-US" sz="1400" dirty="0"/>
          </a:p>
        </p:txBody>
      </p:sp>
      <p:sp>
        <p:nvSpPr>
          <p:cNvPr id="32" name="text-84"/>
          <p:cNvSpPr txBox="1"/>
          <p:nvPr/>
        </p:nvSpPr>
        <p:spPr>
          <a:xfrm>
            <a:off x="9921240" y="2834640"/>
            <a:ext cx="1691640" cy="155448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Hours realised keep the benefit. Under-realisation gives a correction-S&amp;O-verklaring. RVO may audit the records later.</a:t>
            </a:r>
            <a:endParaRPr lang="en-US" sz="1100" dirty="0"/>
          </a:p>
        </p:txBody>
      </p:sp>
      <p:sp>
        <p:nvSpPr>
          <p:cNvPr id="33" name="text-85"/>
          <p:cNvSpPr txBox="1"/>
          <p:nvPr/>
        </p:nvSpPr>
        <p:spPr>
          <a:xfrm>
            <a:off x="548640" y="4617720"/>
            <a:ext cx="3657600" cy="320040"/>
          </a:xfrm>
          <a:prstGeom prst="rect">
            <a:avLst/>
          </a:prstGeom>
          <a:noFill/>
          <a:ln/>
        </p:spPr>
        <p:txBody>
          <a:bodyPr wrap="square" lIns="0" tIns="0" rIns="0" bIns="0" rtlCol="0" anchor="t"/>
          <a:lstStyle/>
          <a:p>
            <a:pPr marL="0" indent="0">
              <a:buNone/>
            </a:pPr>
            <a:r>
              <a:rPr lang="en-US" sz="1300" b="1" dirty="0">
                <a:solidFill>
                  <a:schemeClr val="accent1"/>
                </a:solidFill>
              </a:rPr>
              <a:t>Who is who</a:t>
            </a:r>
            <a:endParaRPr lang="en-US" sz="1300" dirty="0"/>
          </a:p>
        </p:txBody>
      </p:sp>
      <p:sp>
        <p:nvSpPr>
          <p:cNvPr id="34" name="icon-bg-86"/>
          <p:cNvSpPr/>
          <p:nvPr/>
        </p:nvSpPr>
        <p:spPr>
          <a:xfrm>
            <a:off x="548640" y="4983480"/>
            <a:ext cx="384048" cy="384048"/>
          </a:xfrm>
          <a:prstGeom prst="ellipse">
            <a:avLst/>
          </a:prstGeom>
          <a:solidFill>
            <a:schemeClr val="accent3"/>
          </a:solidFill>
          <a:ln w="12700">
            <a:solidFill>
              <a:schemeClr val="accent3"/>
            </a:solidFill>
            <a:prstDash val="solid"/>
          </a:ln>
        </p:spPr>
        <p:txBody>
          <a:bodyPr/>
          <a:lstStyle/>
          <a:p>
            <a:endParaRPr lang="en-US"/>
          </a:p>
        </p:txBody>
      </p:sp>
      <p:pic>
        <p:nvPicPr>
          <p:cNvPr id="35" name="icon-87" descr="preencoded.png"/>
          <p:cNvPicPr>
            <a:picLocks noChangeAspect="1"/>
          </p:cNvPicPr>
          <p:nvPr/>
        </p:nvPicPr>
        <p:blipFill>
          <a:blip r:embed="rId8"/>
          <a:stretch>
            <a:fillRect/>
          </a:stretch>
        </p:blipFill>
        <p:spPr>
          <a:xfrm>
            <a:off x="640812" y="5075652"/>
            <a:ext cx="199705" cy="199705"/>
          </a:xfrm>
          <a:prstGeom prst="rect">
            <a:avLst/>
          </a:prstGeom>
        </p:spPr>
      </p:pic>
      <p:sp>
        <p:nvSpPr>
          <p:cNvPr id="36" name="text-88"/>
          <p:cNvSpPr txBox="1"/>
          <p:nvPr/>
        </p:nvSpPr>
        <p:spPr>
          <a:xfrm>
            <a:off x="1051560" y="4956048"/>
            <a:ext cx="2240280" cy="274320"/>
          </a:xfrm>
          <a:prstGeom prst="rect">
            <a:avLst/>
          </a:prstGeom>
          <a:noFill/>
          <a:ln/>
        </p:spPr>
        <p:txBody>
          <a:bodyPr wrap="square" lIns="0" tIns="0" rIns="0" bIns="0" rtlCol="0" anchor="t"/>
          <a:lstStyle/>
          <a:p>
            <a:pPr marL="0" indent="0">
              <a:buNone/>
            </a:pPr>
            <a:r>
              <a:rPr lang="en-US" sz="1100" b="1" dirty="0">
                <a:solidFill>
                  <a:schemeClr val="tx2"/>
                </a:solidFill>
              </a:rPr>
              <a:t>RVO (government)</a:t>
            </a:r>
            <a:endParaRPr lang="en-US" sz="1100" dirty="0"/>
          </a:p>
        </p:txBody>
      </p:sp>
      <p:sp>
        <p:nvSpPr>
          <p:cNvPr id="37" name="text-89"/>
          <p:cNvSpPr txBox="1"/>
          <p:nvPr/>
        </p:nvSpPr>
        <p:spPr>
          <a:xfrm>
            <a:off x="1051560" y="5230368"/>
            <a:ext cx="2240280" cy="868680"/>
          </a:xfrm>
          <a:prstGeom prst="rect">
            <a:avLst/>
          </a:prstGeom>
          <a:noFill/>
          <a:ln/>
        </p:spPr>
        <p:txBody>
          <a:bodyPr wrap="square" lIns="0" tIns="0" rIns="0" bIns="0" rtlCol="0" anchor="t"/>
          <a:lstStyle/>
          <a:p>
            <a:pPr marL="0" indent="0">
              <a:lnSpc>
                <a:spcPct val="105000"/>
              </a:lnSpc>
              <a:buNone/>
            </a:pPr>
            <a:r>
              <a:rPr lang="en-US" sz="1000" dirty="0">
                <a:solidFill>
                  <a:schemeClr val="accent6"/>
                </a:solidFill>
              </a:rPr>
              <a:t>Grants, settles, audits.</a:t>
            </a:r>
            <a:endParaRPr lang="en-US" sz="1000" dirty="0"/>
          </a:p>
          <a:p>
            <a:pPr marL="0" indent="0">
              <a:lnSpc>
                <a:spcPct val="105000"/>
              </a:lnSpc>
              <a:buNone/>
            </a:pPr>
            <a:r>
              <a:rPr lang="en-US" sz="1000" dirty="0">
                <a:solidFill>
                  <a:schemeClr val="accent6"/>
                </a:solidFill>
              </a:rPr>
              <a:t>WBSO@rvo.nl  ·  088 042 42 42</a:t>
            </a:r>
            <a:endParaRPr lang="en-US" sz="1000" dirty="0"/>
          </a:p>
        </p:txBody>
      </p:sp>
      <p:sp>
        <p:nvSpPr>
          <p:cNvPr id="38" name="icon-bg-90"/>
          <p:cNvSpPr/>
          <p:nvPr/>
        </p:nvSpPr>
        <p:spPr>
          <a:xfrm>
            <a:off x="3383280" y="4983480"/>
            <a:ext cx="384048" cy="384048"/>
          </a:xfrm>
          <a:prstGeom prst="ellipse">
            <a:avLst/>
          </a:prstGeom>
          <a:solidFill>
            <a:schemeClr val="accent3"/>
          </a:solidFill>
          <a:ln w="12700">
            <a:solidFill>
              <a:schemeClr val="accent3"/>
            </a:solidFill>
            <a:prstDash val="solid"/>
          </a:ln>
        </p:spPr>
        <p:txBody>
          <a:bodyPr/>
          <a:lstStyle/>
          <a:p>
            <a:endParaRPr lang="en-US"/>
          </a:p>
        </p:txBody>
      </p:sp>
      <p:pic>
        <p:nvPicPr>
          <p:cNvPr id="39" name="icon-91" descr="preencoded.png"/>
          <p:cNvPicPr>
            <a:picLocks noChangeAspect="1"/>
          </p:cNvPicPr>
          <p:nvPr/>
        </p:nvPicPr>
        <p:blipFill>
          <a:blip r:embed="rId9"/>
          <a:stretch>
            <a:fillRect/>
          </a:stretch>
        </p:blipFill>
        <p:spPr>
          <a:xfrm>
            <a:off x="3475452" y="5075652"/>
            <a:ext cx="199705" cy="199705"/>
          </a:xfrm>
          <a:prstGeom prst="rect">
            <a:avLst/>
          </a:prstGeom>
        </p:spPr>
      </p:pic>
      <p:sp>
        <p:nvSpPr>
          <p:cNvPr id="40" name="text-92"/>
          <p:cNvSpPr txBox="1"/>
          <p:nvPr/>
        </p:nvSpPr>
        <p:spPr>
          <a:xfrm>
            <a:off x="3886200" y="4956048"/>
            <a:ext cx="2240280" cy="274320"/>
          </a:xfrm>
          <a:prstGeom prst="rect">
            <a:avLst/>
          </a:prstGeom>
          <a:noFill/>
          <a:ln/>
        </p:spPr>
        <p:txBody>
          <a:bodyPr wrap="square" lIns="0" tIns="0" rIns="0" bIns="0" rtlCol="0" anchor="t"/>
          <a:lstStyle/>
          <a:p>
            <a:pPr marL="0" indent="0">
              <a:buNone/>
            </a:pPr>
            <a:r>
              <a:rPr lang="en-US" sz="1100" b="1" dirty="0">
                <a:solidFill>
                  <a:schemeClr val="tx2"/>
                </a:solidFill>
              </a:rPr>
              <a:t>SubVice B.V. (intermediary)</a:t>
            </a:r>
            <a:endParaRPr lang="en-US" sz="1100" dirty="0"/>
          </a:p>
        </p:txBody>
      </p:sp>
      <p:sp>
        <p:nvSpPr>
          <p:cNvPr id="41" name="text-93"/>
          <p:cNvSpPr txBox="1"/>
          <p:nvPr/>
        </p:nvSpPr>
        <p:spPr>
          <a:xfrm>
            <a:off x="3886200" y="5230368"/>
            <a:ext cx="2240280" cy="868680"/>
          </a:xfrm>
          <a:prstGeom prst="rect">
            <a:avLst/>
          </a:prstGeom>
          <a:noFill/>
          <a:ln/>
        </p:spPr>
        <p:txBody>
          <a:bodyPr wrap="square" lIns="0" tIns="0" rIns="0" bIns="0" rtlCol="0" anchor="t"/>
          <a:lstStyle/>
          <a:p>
            <a:pPr marL="0" indent="0">
              <a:lnSpc>
                <a:spcPct val="105000"/>
              </a:lnSpc>
              <a:buNone/>
            </a:pPr>
            <a:r>
              <a:rPr lang="en-US" sz="1000" dirty="0">
                <a:solidFill>
                  <a:schemeClr val="accent6"/>
                </a:solidFill>
              </a:rPr>
              <a:t>Writes and files applications and realisation.</a:t>
            </a:r>
            <a:endParaRPr lang="en-US" sz="1000" dirty="0"/>
          </a:p>
          <a:p>
            <a:pPr marL="0" indent="0">
              <a:lnSpc>
                <a:spcPct val="105000"/>
              </a:lnSpc>
              <a:buNone/>
            </a:pPr>
            <a:r>
              <a:rPr lang="en-US" sz="1000" dirty="0">
                <a:solidFill>
                  <a:schemeClr val="accent6"/>
                </a:solidFill>
              </a:rPr>
              <a:t>A.P. Kroes  ·  kroes@subvice.nl  ·  0546 851 851</a:t>
            </a:r>
            <a:endParaRPr lang="en-US" sz="1000" dirty="0"/>
          </a:p>
        </p:txBody>
      </p:sp>
      <p:sp>
        <p:nvSpPr>
          <p:cNvPr id="42" name="icon-bg-94"/>
          <p:cNvSpPr/>
          <p:nvPr/>
        </p:nvSpPr>
        <p:spPr>
          <a:xfrm>
            <a:off x="6217920" y="4983480"/>
            <a:ext cx="384048" cy="384048"/>
          </a:xfrm>
          <a:prstGeom prst="ellipse">
            <a:avLst/>
          </a:prstGeom>
          <a:solidFill>
            <a:schemeClr val="accent3"/>
          </a:solidFill>
          <a:ln w="12700">
            <a:solidFill>
              <a:schemeClr val="accent3"/>
            </a:solidFill>
            <a:prstDash val="solid"/>
          </a:ln>
        </p:spPr>
        <p:txBody>
          <a:bodyPr/>
          <a:lstStyle/>
          <a:p>
            <a:endParaRPr lang="en-US"/>
          </a:p>
        </p:txBody>
      </p:sp>
      <p:pic>
        <p:nvPicPr>
          <p:cNvPr id="43" name="icon-95" descr="preencoded.png"/>
          <p:cNvPicPr>
            <a:picLocks noChangeAspect="1"/>
          </p:cNvPicPr>
          <p:nvPr/>
        </p:nvPicPr>
        <p:blipFill>
          <a:blip r:embed="rId10"/>
          <a:stretch>
            <a:fillRect/>
          </a:stretch>
        </p:blipFill>
        <p:spPr>
          <a:xfrm>
            <a:off x="6310092" y="5075652"/>
            <a:ext cx="199705" cy="199705"/>
          </a:xfrm>
          <a:prstGeom prst="rect">
            <a:avLst/>
          </a:prstGeom>
        </p:spPr>
      </p:pic>
      <p:sp>
        <p:nvSpPr>
          <p:cNvPr id="44" name="text-96"/>
          <p:cNvSpPr txBox="1"/>
          <p:nvPr/>
        </p:nvSpPr>
        <p:spPr>
          <a:xfrm>
            <a:off x="6720840" y="4956048"/>
            <a:ext cx="2240280" cy="274320"/>
          </a:xfrm>
          <a:prstGeom prst="rect">
            <a:avLst/>
          </a:prstGeom>
          <a:noFill/>
          <a:ln/>
        </p:spPr>
        <p:txBody>
          <a:bodyPr wrap="square" lIns="0" tIns="0" rIns="0" bIns="0" rtlCol="0" anchor="t"/>
          <a:lstStyle/>
          <a:p>
            <a:pPr marL="0" indent="0">
              <a:buNone/>
            </a:pPr>
            <a:r>
              <a:rPr lang="en-US" sz="1100" b="1" dirty="0">
                <a:solidFill>
                  <a:schemeClr val="tx2"/>
                </a:solidFill>
              </a:rPr>
              <a:t>Validaide B.V. (applicant)</a:t>
            </a:r>
            <a:endParaRPr lang="en-US" sz="1100" dirty="0"/>
          </a:p>
        </p:txBody>
      </p:sp>
      <p:sp>
        <p:nvSpPr>
          <p:cNvPr id="45" name="text-97"/>
          <p:cNvSpPr txBox="1"/>
          <p:nvPr/>
        </p:nvSpPr>
        <p:spPr>
          <a:xfrm>
            <a:off x="6720840" y="5230368"/>
            <a:ext cx="2240280" cy="868680"/>
          </a:xfrm>
          <a:prstGeom prst="rect">
            <a:avLst/>
          </a:prstGeom>
          <a:noFill/>
          <a:ln/>
        </p:spPr>
        <p:txBody>
          <a:bodyPr wrap="square" lIns="0" tIns="0" rIns="0" bIns="0" rtlCol="0" anchor="t"/>
          <a:lstStyle/>
          <a:p>
            <a:pPr marL="0" indent="0">
              <a:lnSpc>
                <a:spcPct val="105000"/>
              </a:lnSpc>
              <a:buNone/>
            </a:pPr>
            <a:r>
              <a:rPr lang="en-US" sz="1000" dirty="0">
                <a:solidFill>
                  <a:schemeClr val="accent6"/>
                </a:solidFill>
              </a:rPr>
              <a:t>Registered contact for RVO: E. de Jong, info@validaide.com. S&amp;O location: Utrecht.</a:t>
            </a:r>
            <a:endParaRPr lang="en-US" sz="1000" dirty="0"/>
          </a:p>
        </p:txBody>
      </p:sp>
      <p:sp>
        <p:nvSpPr>
          <p:cNvPr id="46" name="icon-bg-98"/>
          <p:cNvSpPr/>
          <p:nvPr/>
        </p:nvSpPr>
        <p:spPr>
          <a:xfrm>
            <a:off x="9052560" y="4983480"/>
            <a:ext cx="384048" cy="384048"/>
          </a:xfrm>
          <a:prstGeom prst="ellipse">
            <a:avLst/>
          </a:prstGeom>
          <a:solidFill>
            <a:schemeClr val="accent3"/>
          </a:solidFill>
          <a:ln w="12700">
            <a:solidFill>
              <a:schemeClr val="accent3"/>
            </a:solidFill>
            <a:prstDash val="solid"/>
          </a:ln>
        </p:spPr>
        <p:txBody>
          <a:bodyPr/>
          <a:lstStyle/>
          <a:p>
            <a:endParaRPr lang="en-US"/>
          </a:p>
        </p:txBody>
      </p:sp>
      <p:pic>
        <p:nvPicPr>
          <p:cNvPr id="47" name="icon-99" descr="preencoded.png"/>
          <p:cNvPicPr>
            <a:picLocks noChangeAspect="1"/>
          </p:cNvPicPr>
          <p:nvPr/>
        </p:nvPicPr>
        <p:blipFill>
          <a:blip r:embed="rId11"/>
          <a:stretch>
            <a:fillRect/>
          </a:stretch>
        </p:blipFill>
        <p:spPr>
          <a:xfrm>
            <a:off x="9144732" y="5075652"/>
            <a:ext cx="199705" cy="199705"/>
          </a:xfrm>
          <a:prstGeom prst="rect">
            <a:avLst/>
          </a:prstGeom>
        </p:spPr>
      </p:pic>
      <p:sp>
        <p:nvSpPr>
          <p:cNvPr id="48" name="text-100"/>
          <p:cNvSpPr txBox="1"/>
          <p:nvPr/>
        </p:nvSpPr>
        <p:spPr>
          <a:xfrm>
            <a:off x="9555480" y="4956048"/>
            <a:ext cx="2240280" cy="274320"/>
          </a:xfrm>
          <a:prstGeom prst="rect">
            <a:avLst/>
          </a:prstGeom>
          <a:noFill/>
          <a:ln/>
        </p:spPr>
        <p:txBody>
          <a:bodyPr wrap="square" lIns="0" tIns="0" rIns="0" bIns="0" rtlCol="0" anchor="t"/>
          <a:lstStyle/>
          <a:p>
            <a:pPr marL="0" indent="0">
              <a:buNone/>
            </a:pPr>
            <a:r>
              <a:rPr lang="en-US" sz="1100" b="1" dirty="0">
                <a:solidFill>
                  <a:schemeClr val="tx2"/>
                </a:solidFill>
              </a:rPr>
              <a:t>WBSO owner</a:t>
            </a:r>
            <a:endParaRPr lang="en-US" sz="1100" dirty="0"/>
          </a:p>
        </p:txBody>
      </p:sp>
      <p:sp>
        <p:nvSpPr>
          <p:cNvPr id="49" name="text-101"/>
          <p:cNvSpPr txBox="1"/>
          <p:nvPr/>
        </p:nvSpPr>
        <p:spPr>
          <a:xfrm>
            <a:off x="9555480" y="5230368"/>
            <a:ext cx="2240280" cy="868680"/>
          </a:xfrm>
          <a:prstGeom prst="rect">
            <a:avLst/>
          </a:prstGeom>
          <a:noFill/>
          <a:ln/>
        </p:spPr>
        <p:txBody>
          <a:bodyPr wrap="square" lIns="0" tIns="0" rIns="0" bIns="0" rtlCol="0" anchor="t"/>
          <a:lstStyle/>
          <a:p>
            <a:pPr marL="0" indent="0">
              <a:lnSpc>
                <a:spcPct val="105000"/>
              </a:lnSpc>
              <a:buNone/>
            </a:pPr>
            <a:r>
              <a:rPr lang="en-US" sz="1000" dirty="0">
                <a:solidFill>
                  <a:schemeClr val="accent6"/>
                </a:solidFill>
              </a:rPr>
              <a:t>Runs the monthly report, keeps Jira hygiene, feeds SubVice the numbers, owns the calendar.</a:t>
            </a:r>
            <a:endParaRPr lang="en-US" sz="1000" dirty="0"/>
          </a:p>
        </p:txBody>
      </p:sp>
      <p:sp>
        <p:nvSpPr>
          <p:cNvPr id="50"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How Validaide uses WBSO</a:t>
            </a:r>
            <a:endParaRPr lang="en-US" sz="3000" dirty="0"/>
          </a:p>
        </p:txBody>
      </p:sp>
      <p:sp>
        <p:nvSpPr>
          <p:cNvPr id="3" name="icon-bg-102"/>
          <p:cNvSpPr/>
          <p:nvPr/>
        </p:nvSpPr>
        <p:spPr>
          <a:xfrm>
            <a:off x="548640" y="1444752"/>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4" name="icon-103" descr="preencoded.png"/>
          <p:cNvPicPr>
            <a:picLocks noChangeAspect="1"/>
          </p:cNvPicPr>
          <p:nvPr/>
        </p:nvPicPr>
        <p:blipFill>
          <a:blip r:embed="rId3"/>
          <a:stretch>
            <a:fillRect/>
          </a:stretch>
        </p:blipFill>
        <p:spPr>
          <a:xfrm>
            <a:off x="669341" y="1565453"/>
            <a:ext cx="261518" cy="261518"/>
          </a:xfrm>
          <a:prstGeom prst="rect">
            <a:avLst/>
          </a:prstGeom>
        </p:spPr>
      </p:pic>
      <p:sp>
        <p:nvSpPr>
          <p:cNvPr id="5" name="text-104"/>
          <p:cNvSpPr txBox="1"/>
          <p:nvPr/>
        </p:nvSpPr>
        <p:spPr>
          <a:xfrm>
            <a:off x="1234440" y="1371600"/>
            <a:ext cx="5120640" cy="292608"/>
          </a:xfrm>
          <a:prstGeom prst="rect">
            <a:avLst/>
          </a:prstGeom>
          <a:noFill/>
          <a:ln/>
        </p:spPr>
        <p:txBody>
          <a:bodyPr wrap="square" lIns="0" tIns="0" rIns="0" bIns="0" rtlCol="0" anchor="t"/>
          <a:lstStyle/>
          <a:p>
            <a:pPr marL="0" indent="0">
              <a:buNone/>
            </a:pPr>
            <a:r>
              <a:rPr lang="en-US" sz="1400" b="1" dirty="0">
                <a:solidFill>
                  <a:schemeClr val="tx2"/>
                </a:solidFill>
              </a:rPr>
              <a:t>Applicant</a:t>
            </a:r>
            <a:endParaRPr lang="en-US" sz="1400" dirty="0"/>
          </a:p>
        </p:txBody>
      </p:sp>
      <p:sp>
        <p:nvSpPr>
          <p:cNvPr id="6" name="text-105"/>
          <p:cNvSpPr txBox="1"/>
          <p:nvPr/>
        </p:nvSpPr>
        <p:spPr>
          <a:xfrm>
            <a:off x="1234440" y="1664208"/>
            <a:ext cx="5120640" cy="621792"/>
          </a:xfrm>
          <a:prstGeom prst="rect">
            <a:avLst/>
          </a:prstGeom>
          <a:noFill/>
          <a:ln/>
        </p:spPr>
        <p:txBody>
          <a:bodyPr wrap="square" lIns="0" tIns="0" rIns="0" bIns="0" rtlCol="0" anchor="t"/>
          <a:lstStyle/>
          <a:p>
            <a:pPr marL="0" indent="0">
              <a:lnSpc>
                <a:spcPct val="108000"/>
              </a:lnSpc>
              <a:buNone/>
            </a:pPr>
            <a:r>
              <a:rPr lang="en-US" sz="1150" dirty="0">
                <a:solidFill>
                  <a:schemeClr val="tx1"/>
                </a:solidFill>
              </a:rPr>
              <a:t>Validaide B.V., KVK 65943678, S&amp;O location Arthur van Schendelstraat 650, Utrecht. Not a starter.</a:t>
            </a:r>
            <a:endParaRPr lang="en-US" sz="1150" dirty="0"/>
          </a:p>
        </p:txBody>
      </p:sp>
      <p:sp>
        <p:nvSpPr>
          <p:cNvPr id="7" name="icon-bg-106"/>
          <p:cNvSpPr/>
          <p:nvPr/>
        </p:nvSpPr>
        <p:spPr>
          <a:xfrm>
            <a:off x="548640" y="2377440"/>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8" name="icon-107" descr="preencoded.png"/>
          <p:cNvPicPr>
            <a:picLocks noChangeAspect="1"/>
          </p:cNvPicPr>
          <p:nvPr/>
        </p:nvPicPr>
        <p:blipFill>
          <a:blip r:embed="rId4"/>
          <a:stretch>
            <a:fillRect/>
          </a:stretch>
        </p:blipFill>
        <p:spPr>
          <a:xfrm>
            <a:off x="669341" y="2498141"/>
            <a:ext cx="261518" cy="261518"/>
          </a:xfrm>
          <a:prstGeom prst="rect">
            <a:avLst/>
          </a:prstGeom>
        </p:spPr>
      </p:pic>
      <p:sp>
        <p:nvSpPr>
          <p:cNvPr id="9" name="text-108"/>
          <p:cNvSpPr txBox="1"/>
          <p:nvPr/>
        </p:nvSpPr>
        <p:spPr>
          <a:xfrm>
            <a:off x="1234440" y="2304288"/>
            <a:ext cx="5120640" cy="292608"/>
          </a:xfrm>
          <a:prstGeom prst="rect">
            <a:avLst/>
          </a:prstGeom>
          <a:noFill/>
          <a:ln/>
        </p:spPr>
        <p:txBody>
          <a:bodyPr wrap="square" lIns="0" tIns="0" rIns="0" bIns="0" rtlCol="0" anchor="t"/>
          <a:lstStyle/>
          <a:p>
            <a:pPr marL="0" indent="0">
              <a:buNone/>
            </a:pPr>
            <a:r>
              <a:rPr lang="en-US" sz="1400" b="1" dirty="0">
                <a:solidFill>
                  <a:schemeClr val="tx2"/>
                </a:solidFill>
              </a:rPr>
              <a:t>What is claimed</a:t>
            </a:r>
            <a:endParaRPr lang="en-US" sz="1400" dirty="0"/>
          </a:p>
        </p:txBody>
      </p:sp>
      <p:sp>
        <p:nvSpPr>
          <p:cNvPr id="10" name="text-109"/>
          <p:cNvSpPr txBox="1"/>
          <p:nvPr/>
        </p:nvSpPr>
        <p:spPr>
          <a:xfrm>
            <a:off x="1234440" y="2596896"/>
            <a:ext cx="5120640" cy="621792"/>
          </a:xfrm>
          <a:prstGeom prst="rect">
            <a:avLst/>
          </a:prstGeom>
          <a:noFill/>
          <a:ln/>
        </p:spPr>
        <p:txBody>
          <a:bodyPr wrap="square" lIns="0" tIns="0" rIns="0" bIns="0" rtlCol="0" anchor="t"/>
          <a:lstStyle/>
          <a:p>
            <a:pPr marL="0" indent="0">
              <a:lnSpc>
                <a:spcPct val="108000"/>
              </a:lnSpc>
              <a:buNone/>
            </a:pPr>
            <a:r>
              <a:rPr lang="en-US" sz="1150" dirty="0">
                <a:solidFill>
                  <a:schemeClr val="tx1"/>
                </a:solidFill>
              </a:rPr>
              <a:t>Hours of our own employees on Dutch payroll, with the flat-rate cost allowance. Forecast in the 2026 application: 8 staff, of whom 4 do S&amp;O.</a:t>
            </a:r>
            <a:endParaRPr lang="en-US" sz="1150" dirty="0"/>
          </a:p>
        </p:txBody>
      </p:sp>
      <p:sp>
        <p:nvSpPr>
          <p:cNvPr id="11" name="icon-bg-110"/>
          <p:cNvSpPr/>
          <p:nvPr/>
        </p:nvSpPr>
        <p:spPr>
          <a:xfrm>
            <a:off x="548640" y="3310128"/>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12" name="icon-111" descr="preencoded.png"/>
          <p:cNvPicPr>
            <a:picLocks noChangeAspect="1"/>
          </p:cNvPicPr>
          <p:nvPr/>
        </p:nvPicPr>
        <p:blipFill>
          <a:blip r:embed="rId5"/>
          <a:stretch>
            <a:fillRect/>
          </a:stretch>
        </p:blipFill>
        <p:spPr>
          <a:xfrm>
            <a:off x="669341" y="3430829"/>
            <a:ext cx="261518" cy="261518"/>
          </a:xfrm>
          <a:prstGeom prst="rect">
            <a:avLst/>
          </a:prstGeom>
        </p:spPr>
      </p:pic>
      <p:sp>
        <p:nvSpPr>
          <p:cNvPr id="13" name="text-112"/>
          <p:cNvSpPr txBox="1"/>
          <p:nvPr/>
        </p:nvSpPr>
        <p:spPr>
          <a:xfrm>
            <a:off x="1234440" y="3236976"/>
            <a:ext cx="5120640" cy="292608"/>
          </a:xfrm>
          <a:prstGeom prst="rect">
            <a:avLst/>
          </a:prstGeom>
          <a:noFill/>
          <a:ln/>
        </p:spPr>
        <p:txBody>
          <a:bodyPr wrap="square" lIns="0" tIns="0" rIns="0" bIns="0" rtlCol="0" anchor="t"/>
          <a:lstStyle/>
          <a:p>
            <a:pPr marL="0" indent="0">
              <a:buNone/>
            </a:pPr>
            <a:r>
              <a:rPr lang="en-US" sz="1400" b="1" dirty="0">
                <a:solidFill>
                  <a:schemeClr val="tx2"/>
                </a:solidFill>
              </a:rPr>
              <a:t>What kind of work</a:t>
            </a:r>
            <a:endParaRPr lang="en-US" sz="1400" dirty="0"/>
          </a:p>
        </p:txBody>
      </p:sp>
      <p:sp>
        <p:nvSpPr>
          <p:cNvPr id="14" name="text-113"/>
          <p:cNvSpPr txBox="1"/>
          <p:nvPr/>
        </p:nvSpPr>
        <p:spPr>
          <a:xfrm>
            <a:off x="1234440" y="3529584"/>
            <a:ext cx="5120640" cy="621792"/>
          </a:xfrm>
          <a:prstGeom prst="rect">
            <a:avLst/>
          </a:prstGeom>
          <a:noFill/>
          <a:ln/>
        </p:spPr>
        <p:txBody>
          <a:bodyPr wrap="square" lIns="0" tIns="0" rIns="0" bIns="0" rtlCol="0" anchor="t"/>
          <a:lstStyle/>
          <a:p>
            <a:pPr marL="0" indent="0">
              <a:lnSpc>
                <a:spcPct val="108000"/>
              </a:lnSpc>
              <a:buNone/>
            </a:pPr>
            <a:r>
              <a:rPr lang="en-US" sz="1150" dirty="0">
                <a:solidFill>
                  <a:schemeClr val="tx1"/>
                </a:solidFill>
              </a:rPr>
              <a:t>Technology area: computer and information sciences. Development projects on the Lane Risk Assessment platform (PHP, JavaScript, Java, Quarkus, PostgreSQL, Cassandra).</a:t>
            </a:r>
            <a:endParaRPr lang="en-US" sz="1150" dirty="0"/>
          </a:p>
        </p:txBody>
      </p:sp>
      <p:sp>
        <p:nvSpPr>
          <p:cNvPr id="15" name="icon-bg-114"/>
          <p:cNvSpPr/>
          <p:nvPr/>
        </p:nvSpPr>
        <p:spPr>
          <a:xfrm>
            <a:off x="548640" y="4242816"/>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16" name="icon-115" descr="preencoded.png"/>
          <p:cNvPicPr>
            <a:picLocks noChangeAspect="1"/>
          </p:cNvPicPr>
          <p:nvPr/>
        </p:nvPicPr>
        <p:blipFill>
          <a:blip r:embed="rId6"/>
          <a:stretch>
            <a:fillRect/>
          </a:stretch>
        </p:blipFill>
        <p:spPr>
          <a:xfrm>
            <a:off x="669341" y="4363517"/>
            <a:ext cx="261518" cy="261518"/>
          </a:xfrm>
          <a:prstGeom prst="rect">
            <a:avLst/>
          </a:prstGeom>
        </p:spPr>
      </p:pic>
      <p:sp>
        <p:nvSpPr>
          <p:cNvPr id="17" name="text-116"/>
          <p:cNvSpPr txBox="1"/>
          <p:nvPr/>
        </p:nvSpPr>
        <p:spPr>
          <a:xfrm>
            <a:off x="1234440" y="4169664"/>
            <a:ext cx="5120640" cy="292608"/>
          </a:xfrm>
          <a:prstGeom prst="rect">
            <a:avLst/>
          </a:prstGeom>
          <a:noFill/>
          <a:ln/>
        </p:spPr>
        <p:txBody>
          <a:bodyPr wrap="square" lIns="0" tIns="0" rIns="0" bIns="0" rtlCol="0" anchor="t"/>
          <a:lstStyle/>
          <a:p>
            <a:pPr marL="0" indent="0">
              <a:buNone/>
            </a:pPr>
            <a:r>
              <a:rPr lang="en-US" sz="1400" b="1" dirty="0">
                <a:solidFill>
                  <a:schemeClr val="tx2"/>
                </a:solidFill>
              </a:rPr>
              <a:t>Who files</a:t>
            </a:r>
            <a:endParaRPr lang="en-US" sz="1400" dirty="0"/>
          </a:p>
        </p:txBody>
      </p:sp>
      <p:sp>
        <p:nvSpPr>
          <p:cNvPr id="18" name="text-117"/>
          <p:cNvSpPr txBox="1"/>
          <p:nvPr/>
        </p:nvSpPr>
        <p:spPr>
          <a:xfrm>
            <a:off x="1234440" y="4462272"/>
            <a:ext cx="5120640" cy="621792"/>
          </a:xfrm>
          <a:prstGeom prst="rect">
            <a:avLst/>
          </a:prstGeom>
          <a:noFill/>
          <a:ln/>
        </p:spPr>
        <p:txBody>
          <a:bodyPr wrap="square" lIns="0" tIns="0" rIns="0" bIns="0" rtlCol="0" anchor="t"/>
          <a:lstStyle/>
          <a:p>
            <a:pPr marL="0" indent="0">
              <a:lnSpc>
                <a:spcPct val="108000"/>
              </a:lnSpc>
              <a:buNone/>
            </a:pPr>
            <a:r>
              <a:rPr lang="en-US" sz="1150" dirty="0">
                <a:solidFill>
                  <a:schemeClr val="tx1"/>
                </a:solidFill>
              </a:rPr>
              <a:t>SubVice B.V. drafts the application from our input, files it, reports the realisation and the BSNs. We supply projects, phases and substantiated hours.</a:t>
            </a:r>
            <a:endParaRPr lang="en-US" sz="1150" dirty="0"/>
          </a:p>
        </p:txBody>
      </p:sp>
      <p:sp>
        <p:nvSpPr>
          <p:cNvPr id="19" name="icon-bg-118"/>
          <p:cNvSpPr/>
          <p:nvPr/>
        </p:nvSpPr>
        <p:spPr>
          <a:xfrm>
            <a:off x="548640" y="5175504"/>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20" name="icon-119" descr="preencoded.png"/>
          <p:cNvPicPr>
            <a:picLocks noChangeAspect="1"/>
          </p:cNvPicPr>
          <p:nvPr/>
        </p:nvPicPr>
        <p:blipFill>
          <a:blip r:embed="rId7"/>
          <a:stretch>
            <a:fillRect/>
          </a:stretch>
        </p:blipFill>
        <p:spPr>
          <a:xfrm>
            <a:off x="669341" y="5296205"/>
            <a:ext cx="261518" cy="261518"/>
          </a:xfrm>
          <a:prstGeom prst="rect">
            <a:avLst/>
          </a:prstGeom>
        </p:spPr>
      </p:pic>
      <p:sp>
        <p:nvSpPr>
          <p:cNvPr id="21" name="text-120"/>
          <p:cNvSpPr txBox="1"/>
          <p:nvPr/>
        </p:nvSpPr>
        <p:spPr>
          <a:xfrm>
            <a:off x="1234440" y="5102352"/>
            <a:ext cx="5120640" cy="292608"/>
          </a:xfrm>
          <a:prstGeom prst="rect">
            <a:avLst/>
          </a:prstGeom>
          <a:noFill/>
          <a:ln/>
        </p:spPr>
        <p:txBody>
          <a:bodyPr wrap="square" lIns="0" tIns="0" rIns="0" bIns="0" rtlCol="0" anchor="t"/>
          <a:lstStyle/>
          <a:p>
            <a:pPr marL="0" indent="0">
              <a:buNone/>
            </a:pPr>
            <a:r>
              <a:rPr lang="en-US" sz="1400" b="1" dirty="0">
                <a:solidFill>
                  <a:schemeClr val="tx2"/>
                </a:solidFill>
              </a:rPr>
              <a:t>Where the money lands</a:t>
            </a:r>
            <a:endParaRPr lang="en-US" sz="1400" dirty="0"/>
          </a:p>
        </p:txBody>
      </p:sp>
      <p:sp>
        <p:nvSpPr>
          <p:cNvPr id="22" name="text-121"/>
          <p:cNvSpPr txBox="1"/>
          <p:nvPr/>
        </p:nvSpPr>
        <p:spPr>
          <a:xfrm>
            <a:off x="1234440" y="5394960"/>
            <a:ext cx="5120640" cy="621792"/>
          </a:xfrm>
          <a:prstGeom prst="rect">
            <a:avLst/>
          </a:prstGeom>
          <a:noFill/>
          <a:ln/>
        </p:spPr>
        <p:txBody>
          <a:bodyPr wrap="square" lIns="0" tIns="0" rIns="0" bIns="0" rtlCol="0" anchor="t"/>
          <a:lstStyle/>
          <a:p>
            <a:pPr marL="0" indent="0">
              <a:lnSpc>
                <a:spcPct val="108000"/>
              </a:lnSpc>
              <a:buNone/>
            </a:pPr>
            <a:r>
              <a:rPr lang="en-US" sz="1150" dirty="0">
                <a:solidFill>
                  <a:schemeClr val="tx1"/>
                </a:solidFill>
              </a:rPr>
              <a:t>As a reduction of the payroll tax Validaide B.V. remits. Partner since July 2024 and major shareholder since December 2024, SkyCell is not the applicant.</a:t>
            </a:r>
            <a:endParaRPr lang="en-US" sz="1150" dirty="0"/>
          </a:p>
        </p:txBody>
      </p:sp>
      <p:sp>
        <p:nvSpPr>
          <p:cNvPr id="23" name="card-122"/>
          <p:cNvSpPr/>
          <p:nvPr/>
        </p:nvSpPr>
        <p:spPr>
          <a:xfrm>
            <a:off x="6766560" y="1371600"/>
            <a:ext cx="4892040" cy="2011680"/>
          </a:xfrm>
          <a:prstGeom prst="roundRect">
            <a:avLst>
              <a:gd name="adj" fmla="val 4545"/>
            </a:avLst>
          </a:prstGeom>
          <a:solidFill>
            <a:schemeClr val="tx2"/>
          </a:solidFill>
          <a:ln w="12700">
            <a:solidFill>
              <a:schemeClr val="tx2"/>
            </a:solidFill>
            <a:prstDash val="solid"/>
          </a:ln>
        </p:spPr>
        <p:txBody>
          <a:bodyPr/>
          <a:lstStyle/>
          <a:p>
            <a:endParaRPr lang="en-US"/>
          </a:p>
        </p:txBody>
      </p:sp>
      <p:sp>
        <p:nvSpPr>
          <p:cNvPr id="24" name="text-123"/>
          <p:cNvSpPr txBox="1"/>
          <p:nvPr/>
        </p:nvSpPr>
        <p:spPr>
          <a:xfrm>
            <a:off x="7040880" y="1572768"/>
            <a:ext cx="4343400" cy="274320"/>
          </a:xfrm>
          <a:prstGeom prst="rect">
            <a:avLst/>
          </a:prstGeom>
          <a:noFill/>
          <a:ln/>
        </p:spPr>
        <p:txBody>
          <a:bodyPr wrap="square" lIns="0" tIns="0" rIns="0" bIns="0" rtlCol="0" anchor="t"/>
          <a:lstStyle/>
          <a:p>
            <a:pPr marL="0" indent="0">
              <a:buNone/>
            </a:pPr>
            <a:r>
              <a:rPr lang="en-US" sz="1100" b="1" dirty="0">
                <a:solidFill>
                  <a:schemeClr val="accent2"/>
                </a:solidFill>
              </a:rPr>
              <a:t>2025  ·  SO25001218</a:t>
            </a:r>
            <a:endParaRPr lang="en-US" sz="1100" dirty="0"/>
          </a:p>
        </p:txBody>
      </p:sp>
      <p:sp>
        <p:nvSpPr>
          <p:cNvPr id="25" name="text-124"/>
          <p:cNvSpPr txBox="1"/>
          <p:nvPr/>
        </p:nvSpPr>
        <p:spPr>
          <a:xfrm>
            <a:off x="7040880" y="1828800"/>
            <a:ext cx="4343400" cy="685800"/>
          </a:xfrm>
          <a:prstGeom prst="rect">
            <a:avLst/>
          </a:prstGeom>
          <a:noFill/>
          <a:ln/>
        </p:spPr>
        <p:txBody>
          <a:bodyPr wrap="square" lIns="0" tIns="0" rIns="0" bIns="0" rtlCol="0" anchor="t"/>
          <a:lstStyle/>
          <a:p>
            <a:pPr marL="0" indent="0">
              <a:buNone/>
            </a:pPr>
            <a:r>
              <a:rPr lang="en-US" sz="3600" b="1" dirty="0">
                <a:solidFill>
                  <a:schemeClr val="bg1"/>
                </a:solidFill>
              </a:rPr>
              <a:t>7,000 h granted</a:t>
            </a:r>
            <a:endParaRPr lang="en-US" sz="3600" dirty="0"/>
          </a:p>
        </p:txBody>
      </p:sp>
      <p:sp>
        <p:nvSpPr>
          <p:cNvPr id="26" name="text-125"/>
          <p:cNvSpPr txBox="1"/>
          <p:nvPr/>
        </p:nvSpPr>
        <p:spPr>
          <a:xfrm>
            <a:off x="7040880" y="2560320"/>
            <a:ext cx="4343400" cy="731520"/>
          </a:xfrm>
          <a:prstGeom prst="rect">
            <a:avLst/>
          </a:prstGeom>
          <a:noFill/>
          <a:ln/>
        </p:spPr>
        <p:txBody>
          <a:bodyPr wrap="square" lIns="0" tIns="0" rIns="0" bIns="0" rtlCol="0" anchor="t"/>
          <a:lstStyle/>
          <a:p>
            <a:pPr marL="0" indent="0">
              <a:lnSpc>
                <a:spcPct val="115000"/>
              </a:lnSpc>
              <a:buNone/>
            </a:pPr>
            <a:r>
              <a:rPr lang="en-US" sz="1150" dirty="0">
                <a:solidFill>
                  <a:schemeClr val="bg2"/>
                </a:solidFill>
              </a:rPr>
              <a:t>Two projects (2301, 2302), 3,500 h each.</a:t>
            </a:r>
            <a:endParaRPr lang="en-US" sz="1150" dirty="0"/>
          </a:p>
          <a:p>
            <a:pPr marL="0" indent="0">
              <a:lnSpc>
                <a:spcPct val="115000"/>
              </a:lnSpc>
              <a:buNone/>
            </a:pPr>
            <a:r>
              <a:rPr lang="en-US" sz="1150" dirty="0">
                <a:solidFill>
                  <a:schemeClr val="bg2"/>
                </a:solidFill>
              </a:rPr>
              <a:t>S&amp;O wage €35/h, base €283,800, maximum benefit €102,168.</a:t>
            </a:r>
            <a:endParaRPr lang="en-US" sz="1150" dirty="0"/>
          </a:p>
        </p:txBody>
      </p:sp>
      <p:sp>
        <p:nvSpPr>
          <p:cNvPr id="27" name="card-126"/>
          <p:cNvSpPr/>
          <p:nvPr/>
        </p:nvSpPr>
        <p:spPr>
          <a:xfrm>
            <a:off x="6766560" y="3566160"/>
            <a:ext cx="4892040" cy="2011680"/>
          </a:xfrm>
          <a:prstGeom prst="roundRect">
            <a:avLst>
              <a:gd name="adj" fmla="val 4545"/>
            </a:avLst>
          </a:prstGeom>
          <a:solidFill>
            <a:schemeClr val="tx2"/>
          </a:solidFill>
          <a:ln w="12700">
            <a:solidFill>
              <a:schemeClr val="tx2"/>
            </a:solidFill>
            <a:prstDash val="solid"/>
          </a:ln>
        </p:spPr>
        <p:txBody>
          <a:bodyPr/>
          <a:lstStyle/>
          <a:p>
            <a:endParaRPr lang="en-US"/>
          </a:p>
        </p:txBody>
      </p:sp>
      <p:sp>
        <p:nvSpPr>
          <p:cNvPr id="28" name="text-127"/>
          <p:cNvSpPr txBox="1"/>
          <p:nvPr/>
        </p:nvSpPr>
        <p:spPr>
          <a:xfrm>
            <a:off x="7040880" y="3767328"/>
            <a:ext cx="4343400" cy="274320"/>
          </a:xfrm>
          <a:prstGeom prst="rect">
            <a:avLst/>
          </a:prstGeom>
          <a:noFill/>
          <a:ln/>
        </p:spPr>
        <p:txBody>
          <a:bodyPr wrap="square" lIns="0" tIns="0" rIns="0" bIns="0" rtlCol="0" anchor="t"/>
          <a:lstStyle/>
          <a:p>
            <a:pPr marL="0" indent="0">
              <a:buNone/>
            </a:pPr>
            <a:r>
              <a:rPr lang="en-US" sz="1100" b="1" dirty="0">
                <a:solidFill>
                  <a:schemeClr val="accent2"/>
                </a:solidFill>
              </a:rPr>
              <a:t>2026  ·  SO26004822</a:t>
            </a:r>
            <a:endParaRPr lang="en-US" sz="1100" dirty="0"/>
          </a:p>
        </p:txBody>
      </p:sp>
      <p:sp>
        <p:nvSpPr>
          <p:cNvPr id="29" name="text-128"/>
          <p:cNvSpPr txBox="1"/>
          <p:nvPr/>
        </p:nvSpPr>
        <p:spPr>
          <a:xfrm>
            <a:off x="7040880" y="4023360"/>
            <a:ext cx="4343400" cy="685800"/>
          </a:xfrm>
          <a:prstGeom prst="rect">
            <a:avLst/>
          </a:prstGeom>
          <a:noFill/>
          <a:ln/>
        </p:spPr>
        <p:txBody>
          <a:bodyPr wrap="square" lIns="0" tIns="0" rIns="0" bIns="0" rtlCol="0" anchor="t"/>
          <a:lstStyle/>
          <a:p>
            <a:pPr marL="0" indent="0">
              <a:buNone/>
            </a:pPr>
            <a:r>
              <a:rPr lang="en-US" sz="3600" b="1" dirty="0">
                <a:solidFill>
                  <a:schemeClr val="bg1"/>
                </a:solidFill>
              </a:rPr>
              <a:t>3,000 h granted</a:t>
            </a:r>
            <a:endParaRPr lang="en-US" sz="3600" dirty="0"/>
          </a:p>
        </p:txBody>
      </p:sp>
      <p:sp>
        <p:nvSpPr>
          <p:cNvPr id="30" name="text-129"/>
          <p:cNvSpPr txBox="1"/>
          <p:nvPr/>
        </p:nvSpPr>
        <p:spPr>
          <a:xfrm>
            <a:off x="7040880" y="4754880"/>
            <a:ext cx="4343400" cy="731520"/>
          </a:xfrm>
          <a:prstGeom prst="rect">
            <a:avLst/>
          </a:prstGeom>
          <a:noFill/>
          <a:ln/>
        </p:spPr>
        <p:txBody>
          <a:bodyPr wrap="square" lIns="0" tIns="0" rIns="0" bIns="0" rtlCol="0" anchor="t"/>
          <a:lstStyle/>
          <a:p>
            <a:pPr marL="0" indent="0">
              <a:lnSpc>
                <a:spcPct val="115000"/>
              </a:lnSpc>
              <a:buNone/>
            </a:pPr>
            <a:r>
              <a:rPr lang="en-US" sz="1150" dirty="0">
                <a:solidFill>
                  <a:schemeClr val="bg2"/>
                </a:solidFill>
              </a:rPr>
              <a:t>One project (2601).</a:t>
            </a:r>
            <a:endParaRPr lang="en-US" sz="1150" dirty="0"/>
          </a:p>
          <a:p>
            <a:pPr marL="0" indent="0">
              <a:lnSpc>
                <a:spcPct val="115000"/>
              </a:lnSpc>
              <a:buNone/>
            </a:pPr>
            <a:r>
              <a:rPr lang="en-US" sz="1150" dirty="0">
                <a:solidFill>
                  <a:schemeClr val="bg2"/>
                </a:solidFill>
              </a:rPr>
              <a:t>S&amp;O wage €40/h, base €142,800, maximum benefit €51,408.</a:t>
            </a:r>
            <a:endParaRPr lang="en-US" sz="1150" dirty="0"/>
          </a:p>
        </p:txBody>
      </p:sp>
      <p:sp>
        <p:nvSpPr>
          <p:cNvPr id="31" name="text-130"/>
          <p:cNvSpPr txBox="1"/>
          <p:nvPr/>
        </p:nvSpPr>
        <p:spPr>
          <a:xfrm>
            <a:off x="6766560" y="5715000"/>
            <a:ext cx="4892040" cy="365760"/>
          </a:xfrm>
          <a:prstGeom prst="rect">
            <a:avLst/>
          </a:prstGeom>
          <a:noFill/>
          <a:ln/>
        </p:spPr>
        <p:txBody>
          <a:bodyPr wrap="square" lIns="0" tIns="0" rIns="0" bIns="0" rtlCol="0" anchor="t"/>
          <a:lstStyle/>
          <a:p>
            <a:pPr marL="0" indent="0">
              <a:buNone/>
            </a:pPr>
            <a:r>
              <a:rPr lang="en-US" sz="1400" b="1" dirty="0">
                <a:solidFill>
                  <a:schemeClr val="accent1"/>
                </a:solidFill>
              </a:rPr>
              <a:t>≈ €17 </a:t>
            </a:r>
            <a:r>
              <a:rPr lang="en-US" sz="1400" dirty="0">
                <a:solidFill>
                  <a:schemeClr val="tx2"/>
                </a:solidFill>
              </a:rPr>
              <a:t>of benefit for every substantiated R&amp;D hour in 2026</a:t>
            </a:r>
            <a:endParaRPr lang="en-US" sz="1400" dirty="0"/>
          </a:p>
        </p:txBody>
      </p:sp>
      <p:sp>
        <p:nvSpPr>
          <p:cNvPr id="32"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Current project 2601: Lane intelligence</a:t>
            </a:r>
            <a:endParaRPr lang="en-US" sz="3000" dirty="0"/>
          </a:p>
        </p:txBody>
      </p:sp>
      <p:sp>
        <p:nvSpPr>
          <p:cNvPr id="3" name="text-131"/>
          <p:cNvSpPr txBox="1"/>
          <p:nvPr/>
        </p:nvSpPr>
        <p:spPr>
          <a:xfrm>
            <a:off x="548640" y="1234440"/>
            <a:ext cx="11064240" cy="320040"/>
          </a:xfrm>
          <a:prstGeom prst="rect">
            <a:avLst/>
          </a:prstGeom>
          <a:noFill/>
          <a:ln/>
        </p:spPr>
        <p:txBody>
          <a:bodyPr wrap="square" lIns="0" tIns="0" rIns="0" bIns="0" rtlCol="0" anchor="t"/>
          <a:lstStyle/>
          <a:p>
            <a:pPr marL="0" indent="0">
              <a:buNone/>
            </a:pPr>
            <a:r>
              <a:rPr lang="en-US" sz="1200" b="1" dirty="0">
                <a:solidFill>
                  <a:schemeClr val="accent1"/>
                </a:solidFill>
              </a:rPr>
              <a:t>Assessment, Plan, Observe &amp; Alert  ·  development project, software  ·  1 January to 31 December 2026  ·  3,000 h</a:t>
            </a:r>
            <a:endParaRPr lang="en-US" sz="1200" dirty="0"/>
          </a:p>
        </p:txBody>
      </p:sp>
      <p:sp>
        <p:nvSpPr>
          <p:cNvPr id="4" name="text-132"/>
          <p:cNvSpPr txBox="1"/>
          <p:nvPr/>
        </p:nvSpPr>
        <p:spPr>
          <a:xfrm>
            <a:off x="548640" y="1691640"/>
            <a:ext cx="5852160" cy="1600200"/>
          </a:xfrm>
          <a:prstGeom prst="rect">
            <a:avLst/>
          </a:prstGeom>
          <a:noFill/>
          <a:ln/>
        </p:spPr>
        <p:txBody>
          <a:bodyPr wrap="square" lIns="0" tIns="0" rIns="0" bIns="0" rtlCol="0" anchor="t"/>
          <a:lstStyle/>
          <a:p>
            <a:pPr marL="0" indent="0">
              <a:lnSpc>
                <a:spcPct val="115000"/>
              </a:lnSpc>
              <a:buNone/>
            </a:pPr>
            <a:r>
              <a:rPr lang="en-US" sz="1250" dirty="0">
                <a:solidFill>
                  <a:schemeClr val="tx1"/>
                </a:solidFill>
              </a:rPr>
              <a:t>The Lane Risk Assessment (LRA) platform started as an assessment and planning tool. It must become a service-based engine that also observes shipments and alerts in near real time, for single-patient routes and high-volume bulk lanes alike. The R&amp;D: decouple the core into services for assessment, planning, observing and alerting, with new APIs, event-driven processing and data models.</a:t>
            </a:r>
            <a:endParaRPr lang="en-US" sz="1250" dirty="0"/>
          </a:p>
        </p:txBody>
      </p:sp>
      <p:sp>
        <p:nvSpPr>
          <p:cNvPr id="5" name="card-133"/>
          <p:cNvSpPr/>
          <p:nvPr/>
        </p:nvSpPr>
        <p:spPr>
          <a:xfrm>
            <a:off x="548640" y="3429000"/>
            <a:ext cx="2834640" cy="1325880"/>
          </a:xfrm>
          <a:prstGeom prst="roundRect">
            <a:avLst>
              <a:gd name="adj" fmla="val 6897"/>
            </a:avLst>
          </a:prstGeom>
          <a:solidFill>
            <a:schemeClr val="bg2"/>
          </a:solidFill>
          <a:ln w="12700">
            <a:solidFill>
              <a:schemeClr val="bg2"/>
            </a:solidFill>
            <a:prstDash val="solid"/>
          </a:ln>
        </p:spPr>
        <p:txBody>
          <a:bodyPr/>
          <a:lstStyle/>
          <a:p>
            <a:endParaRPr lang="en-US"/>
          </a:p>
        </p:txBody>
      </p:sp>
      <p:sp>
        <p:nvSpPr>
          <p:cNvPr id="6" name="text-134"/>
          <p:cNvSpPr txBox="1"/>
          <p:nvPr/>
        </p:nvSpPr>
        <p:spPr>
          <a:xfrm>
            <a:off x="777240" y="3566160"/>
            <a:ext cx="2468880" cy="274320"/>
          </a:xfrm>
          <a:prstGeom prst="rect">
            <a:avLst/>
          </a:prstGeom>
          <a:noFill/>
          <a:ln/>
        </p:spPr>
        <p:txBody>
          <a:bodyPr wrap="square" lIns="0" tIns="0" rIns="0" bIns="0" rtlCol="0" anchor="t"/>
          <a:lstStyle/>
          <a:p>
            <a:pPr marL="0" indent="0">
              <a:buNone/>
            </a:pPr>
            <a:r>
              <a:rPr lang="en-US" sz="1200" b="1" dirty="0">
                <a:solidFill>
                  <a:schemeClr val="accent1"/>
                </a:solidFill>
              </a:rPr>
              <a:t>Counts as S&amp;O</a:t>
            </a:r>
            <a:endParaRPr lang="en-US" sz="1200" dirty="0"/>
          </a:p>
        </p:txBody>
      </p:sp>
      <p:sp>
        <p:nvSpPr>
          <p:cNvPr id="7" name="text-135"/>
          <p:cNvSpPr txBox="1"/>
          <p:nvPr/>
        </p:nvSpPr>
        <p:spPr>
          <a:xfrm>
            <a:off x="777240" y="3840480"/>
            <a:ext cx="2468880" cy="868680"/>
          </a:xfrm>
          <a:prstGeom prst="rect">
            <a:avLst/>
          </a:prstGeom>
          <a:noFill/>
          <a:ln/>
        </p:spPr>
        <p:txBody>
          <a:bodyPr wrap="square" lIns="0" tIns="0" rIns="0" bIns="0" rtlCol="0" anchor="t"/>
          <a:lstStyle/>
          <a:p>
            <a:pPr marL="0" indent="0">
              <a:lnSpc>
                <a:spcPct val="108000"/>
              </a:lnSpc>
              <a:buNone/>
            </a:pPr>
            <a:r>
              <a:rPr lang="en-US" sz="1100" dirty="0">
                <a:solidFill>
                  <a:schemeClr val="tx1"/>
                </a:solidFill>
              </a:rPr>
              <a:t>Design, build and validation of the technically new components and their supporting tools.</a:t>
            </a:r>
            <a:endParaRPr lang="en-US" sz="1100" dirty="0"/>
          </a:p>
        </p:txBody>
      </p:sp>
      <p:sp>
        <p:nvSpPr>
          <p:cNvPr id="8" name="card-136"/>
          <p:cNvSpPr/>
          <p:nvPr/>
        </p:nvSpPr>
        <p:spPr>
          <a:xfrm>
            <a:off x="3566160" y="3429000"/>
            <a:ext cx="2834640" cy="1325880"/>
          </a:xfrm>
          <a:prstGeom prst="roundRect">
            <a:avLst>
              <a:gd name="adj" fmla="val 6897"/>
            </a:avLst>
          </a:prstGeom>
          <a:solidFill>
            <a:schemeClr val="bg2"/>
          </a:solidFill>
          <a:ln w="12700">
            <a:solidFill>
              <a:schemeClr val="bg2"/>
            </a:solidFill>
            <a:prstDash val="solid"/>
          </a:ln>
        </p:spPr>
        <p:txBody>
          <a:bodyPr/>
          <a:lstStyle/>
          <a:p>
            <a:endParaRPr lang="en-US"/>
          </a:p>
        </p:txBody>
      </p:sp>
      <p:sp>
        <p:nvSpPr>
          <p:cNvPr id="9" name="text-137"/>
          <p:cNvSpPr txBox="1"/>
          <p:nvPr/>
        </p:nvSpPr>
        <p:spPr>
          <a:xfrm>
            <a:off x="3794760" y="3566160"/>
            <a:ext cx="2468880" cy="274320"/>
          </a:xfrm>
          <a:prstGeom prst="rect">
            <a:avLst/>
          </a:prstGeom>
          <a:noFill/>
          <a:ln/>
        </p:spPr>
        <p:txBody>
          <a:bodyPr wrap="square" lIns="0" tIns="0" rIns="0" bIns="0" rtlCol="0" anchor="t"/>
          <a:lstStyle/>
          <a:p>
            <a:pPr marL="0" indent="0">
              <a:buNone/>
            </a:pPr>
            <a:r>
              <a:rPr lang="en-US" sz="1200" b="1" dirty="0">
                <a:solidFill>
                  <a:schemeClr val="accent5"/>
                </a:solidFill>
              </a:rPr>
              <a:t>Does not count</a:t>
            </a:r>
            <a:endParaRPr lang="en-US" sz="1200" dirty="0"/>
          </a:p>
        </p:txBody>
      </p:sp>
      <p:sp>
        <p:nvSpPr>
          <p:cNvPr id="10" name="text-138"/>
          <p:cNvSpPr txBox="1"/>
          <p:nvPr/>
        </p:nvSpPr>
        <p:spPr>
          <a:xfrm>
            <a:off x="3794760" y="3840480"/>
            <a:ext cx="2468880" cy="868680"/>
          </a:xfrm>
          <a:prstGeom prst="rect">
            <a:avLst/>
          </a:prstGeom>
          <a:noFill/>
          <a:ln/>
        </p:spPr>
        <p:txBody>
          <a:bodyPr wrap="square" lIns="0" tIns="0" rIns="0" bIns="0" rtlCol="0" anchor="t"/>
          <a:lstStyle/>
          <a:p>
            <a:pPr marL="0" indent="0">
              <a:lnSpc>
                <a:spcPct val="108000"/>
              </a:lnSpc>
              <a:buNone/>
            </a:pPr>
            <a:r>
              <a:rPr lang="en-US" sz="1100" dirty="0">
                <a:solidFill>
                  <a:schemeClr val="tx1"/>
                </a:solidFill>
              </a:rPr>
              <a:t>Configuration, routine use of existing tooling, bug fixing, admin, travel, meetings without technical content.</a:t>
            </a:r>
            <a:endParaRPr lang="en-US" sz="1100" dirty="0"/>
          </a:p>
        </p:txBody>
      </p:sp>
      <p:sp>
        <p:nvSpPr>
          <p:cNvPr id="11" name="text-139"/>
          <p:cNvSpPr txBox="1"/>
          <p:nvPr/>
        </p:nvSpPr>
        <p:spPr>
          <a:xfrm>
            <a:off x="548640" y="4892040"/>
            <a:ext cx="5852160" cy="274320"/>
          </a:xfrm>
          <a:prstGeom prst="rect">
            <a:avLst/>
          </a:prstGeom>
          <a:noFill/>
          <a:ln/>
        </p:spPr>
        <p:txBody>
          <a:bodyPr wrap="square" lIns="0" tIns="0" rIns="0" bIns="0" rtlCol="0" anchor="t"/>
          <a:lstStyle/>
          <a:p>
            <a:pPr marL="0" indent="0">
              <a:buNone/>
            </a:pPr>
            <a:r>
              <a:rPr lang="en-US" sz="1200" b="1" dirty="0">
                <a:solidFill>
                  <a:schemeClr val="tx2"/>
                </a:solidFill>
              </a:rPr>
              <a:t>Technical problems named in the application</a:t>
            </a:r>
            <a:endParaRPr lang="en-US" sz="1200" dirty="0"/>
          </a:p>
        </p:txBody>
      </p:sp>
      <p:sp>
        <p:nvSpPr>
          <p:cNvPr id="12" name="text-140"/>
          <p:cNvSpPr txBox="1"/>
          <p:nvPr/>
        </p:nvSpPr>
        <p:spPr>
          <a:xfrm>
            <a:off x="548640" y="5138928"/>
            <a:ext cx="5852160" cy="777240"/>
          </a:xfrm>
          <a:prstGeom prst="rect">
            <a:avLst/>
          </a:prstGeom>
          <a:noFill/>
          <a:ln/>
        </p:spPr>
        <p:txBody>
          <a:bodyPr wrap="square" lIns="0" tIns="0" rIns="0" bIns="0" rtlCol="0" anchor="t"/>
          <a:lstStyle/>
          <a:p>
            <a:pPr marL="0" indent="0">
              <a:lnSpc>
                <a:spcPct val="110000"/>
              </a:lnSpc>
              <a:buNone/>
            </a:pPr>
            <a:r>
              <a:rPr lang="en-US" sz="1100" dirty="0">
                <a:solidFill>
                  <a:schemeClr val="accent6"/>
                </a:solidFill>
              </a:rPr>
              <a:t>Dynamic, composable lane flows instead of hard-coded logic  ·  bursty asynchronous traffic versus near real-time response  ·  bulk parameter updates invalidating scores and monitoring state  ·  call limits and latency ceilings on projection data</a:t>
            </a:r>
            <a:endParaRPr lang="en-US" sz="1100" dirty="0"/>
          </a:p>
        </p:txBody>
      </p:sp>
      <p:sp>
        <p:nvSpPr>
          <p:cNvPr id="13" name="card-141"/>
          <p:cNvSpPr/>
          <p:nvPr/>
        </p:nvSpPr>
        <p:spPr>
          <a:xfrm>
            <a:off x="6766560" y="1691640"/>
            <a:ext cx="4892040" cy="4343400"/>
          </a:xfrm>
          <a:prstGeom prst="roundRect">
            <a:avLst>
              <a:gd name="adj" fmla="val 2105"/>
            </a:avLst>
          </a:prstGeom>
          <a:solidFill>
            <a:schemeClr val="bg2"/>
          </a:solidFill>
          <a:ln w="12700">
            <a:solidFill>
              <a:schemeClr val="bg2"/>
            </a:solidFill>
            <a:prstDash val="solid"/>
          </a:ln>
        </p:spPr>
        <p:txBody>
          <a:bodyPr/>
          <a:lstStyle/>
          <a:p>
            <a:endParaRPr lang="en-US"/>
          </a:p>
        </p:txBody>
      </p:sp>
      <p:sp>
        <p:nvSpPr>
          <p:cNvPr id="14" name="text-142"/>
          <p:cNvSpPr txBox="1"/>
          <p:nvPr/>
        </p:nvSpPr>
        <p:spPr>
          <a:xfrm>
            <a:off x="6995160" y="1847088"/>
            <a:ext cx="4480560" cy="320040"/>
          </a:xfrm>
          <a:prstGeom prst="rect">
            <a:avLst/>
          </a:prstGeom>
          <a:noFill/>
          <a:ln/>
        </p:spPr>
        <p:txBody>
          <a:bodyPr wrap="square" lIns="0" tIns="0" rIns="0" bIns="0" rtlCol="0" anchor="t"/>
          <a:lstStyle/>
          <a:p>
            <a:pPr marL="0" indent="0">
              <a:buNone/>
            </a:pPr>
            <a:r>
              <a:rPr lang="en-US" sz="1400" b="1" dirty="0">
                <a:solidFill>
                  <a:schemeClr val="tx2"/>
                </a:solidFill>
              </a:rPr>
              <a:t>Phases and target dates</a:t>
            </a:r>
            <a:endParaRPr lang="en-US" sz="1400" dirty="0"/>
          </a:p>
        </p:txBody>
      </p:sp>
      <p:sp>
        <p:nvSpPr>
          <p:cNvPr id="15" name="dot-143"/>
          <p:cNvSpPr/>
          <p:nvPr/>
        </p:nvSpPr>
        <p:spPr>
          <a:xfrm>
            <a:off x="6995160" y="2350008"/>
            <a:ext cx="146304" cy="146304"/>
          </a:xfrm>
          <a:prstGeom prst="ellipse">
            <a:avLst/>
          </a:prstGeom>
          <a:solidFill>
            <a:schemeClr val="accent1"/>
          </a:solidFill>
          <a:ln w="12700">
            <a:solidFill>
              <a:schemeClr val="accent1"/>
            </a:solidFill>
            <a:prstDash val="solid"/>
          </a:ln>
        </p:spPr>
        <p:txBody>
          <a:bodyPr/>
          <a:lstStyle/>
          <a:p>
            <a:endParaRPr lang="en-US"/>
          </a:p>
        </p:txBody>
      </p:sp>
      <p:sp>
        <p:nvSpPr>
          <p:cNvPr id="16" name="text-144"/>
          <p:cNvSpPr txBox="1"/>
          <p:nvPr/>
        </p:nvSpPr>
        <p:spPr>
          <a:xfrm>
            <a:off x="7269480" y="2240280"/>
            <a:ext cx="3246120" cy="365760"/>
          </a:xfrm>
          <a:prstGeom prst="rect">
            <a:avLst/>
          </a:prstGeom>
          <a:noFill/>
          <a:ln/>
        </p:spPr>
        <p:txBody>
          <a:bodyPr wrap="square" lIns="0" tIns="0" rIns="0" bIns="0" rtlCol="0" anchor="ctr"/>
          <a:lstStyle/>
          <a:p>
            <a:pPr marL="0" indent="0">
              <a:buNone/>
            </a:pPr>
            <a:r>
              <a:rPr lang="en-US" sz="1200" dirty="0">
                <a:solidFill>
                  <a:schemeClr val="tx1"/>
                </a:solidFill>
              </a:rPr>
              <a:t>Adaptive flow orchestration service</a:t>
            </a:r>
            <a:endParaRPr lang="en-US" sz="1200" dirty="0"/>
          </a:p>
        </p:txBody>
      </p:sp>
      <p:sp>
        <p:nvSpPr>
          <p:cNvPr id="17" name="chip-145"/>
          <p:cNvSpPr/>
          <p:nvPr/>
        </p:nvSpPr>
        <p:spPr>
          <a:xfrm>
            <a:off x="10607040" y="2276856"/>
            <a:ext cx="82296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18" name="text-146"/>
          <p:cNvSpPr txBox="1"/>
          <p:nvPr/>
        </p:nvSpPr>
        <p:spPr>
          <a:xfrm>
            <a:off x="10607040" y="2276856"/>
            <a:ext cx="822960" cy="292608"/>
          </a:xfrm>
          <a:prstGeom prst="rect">
            <a:avLst/>
          </a:prstGeom>
          <a:noFill/>
          <a:ln/>
        </p:spPr>
        <p:txBody>
          <a:bodyPr wrap="square" lIns="0" tIns="0" rIns="0" bIns="0" rtlCol="0" anchor="ctr"/>
          <a:lstStyle/>
          <a:p>
            <a:pPr marL="0" indent="0" algn="ctr">
              <a:buNone/>
            </a:pPr>
            <a:r>
              <a:rPr lang="en-US" sz="1000" b="1" dirty="0">
                <a:solidFill>
                  <a:schemeClr val="bg1"/>
                </a:solidFill>
              </a:rPr>
              <a:t>Q4 2026</a:t>
            </a:r>
            <a:endParaRPr lang="en-US" sz="1000" dirty="0"/>
          </a:p>
        </p:txBody>
      </p:sp>
      <p:sp>
        <p:nvSpPr>
          <p:cNvPr id="19" name="dot-147"/>
          <p:cNvSpPr/>
          <p:nvPr/>
        </p:nvSpPr>
        <p:spPr>
          <a:xfrm>
            <a:off x="6995160" y="2852928"/>
            <a:ext cx="146304" cy="146304"/>
          </a:xfrm>
          <a:prstGeom prst="ellipse">
            <a:avLst/>
          </a:prstGeom>
          <a:solidFill>
            <a:schemeClr val="accent1"/>
          </a:solidFill>
          <a:ln w="12700">
            <a:solidFill>
              <a:schemeClr val="accent1"/>
            </a:solidFill>
            <a:prstDash val="solid"/>
          </a:ln>
        </p:spPr>
        <p:txBody>
          <a:bodyPr/>
          <a:lstStyle/>
          <a:p>
            <a:endParaRPr lang="en-US"/>
          </a:p>
        </p:txBody>
      </p:sp>
      <p:sp>
        <p:nvSpPr>
          <p:cNvPr id="20" name="text-148"/>
          <p:cNvSpPr txBox="1"/>
          <p:nvPr/>
        </p:nvSpPr>
        <p:spPr>
          <a:xfrm>
            <a:off x="7269480" y="2743200"/>
            <a:ext cx="3246120" cy="365760"/>
          </a:xfrm>
          <a:prstGeom prst="rect">
            <a:avLst/>
          </a:prstGeom>
          <a:noFill/>
          <a:ln/>
        </p:spPr>
        <p:txBody>
          <a:bodyPr wrap="square" lIns="0" tIns="0" rIns="0" bIns="0" rtlCol="0" anchor="ctr"/>
          <a:lstStyle/>
          <a:p>
            <a:pPr marL="0" indent="0">
              <a:buNone/>
            </a:pPr>
            <a:r>
              <a:rPr lang="en-US" sz="1200" dirty="0">
                <a:solidFill>
                  <a:schemeClr val="tx1"/>
                </a:solidFill>
              </a:rPr>
              <a:t>Dynamic lane controller</a:t>
            </a:r>
            <a:endParaRPr lang="en-US" sz="1200" dirty="0"/>
          </a:p>
        </p:txBody>
      </p:sp>
      <p:sp>
        <p:nvSpPr>
          <p:cNvPr id="21" name="chip-149"/>
          <p:cNvSpPr/>
          <p:nvPr/>
        </p:nvSpPr>
        <p:spPr>
          <a:xfrm>
            <a:off x="10607040" y="2779776"/>
            <a:ext cx="82296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22" name="text-150"/>
          <p:cNvSpPr txBox="1"/>
          <p:nvPr/>
        </p:nvSpPr>
        <p:spPr>
          <a:xfrm>
            <a:off x="10607040" y="2779776"/>
            <a:ext cx="822960" cy="292608"/>
          </a:xfrm>
          <a:prstGeom prst="rect">
            <a:avLst/>
          </a:prstGeom>
          <a:noFill/>
          <a:ln/>
        </p:spPr>
        <p:txBody>
          <a:bodyPr wrap="square" lIns="0" tIns="0" rIns="0" bIns="0" rtlCol="0" anchor="ctr"/>
          <a:lstStyle/>
          <a:p>
            <a:pPr marL="0" indent="0" algn="ctr">
              <a:buNone/>
            </a:pPr>
            <a:r>
              <a:rPr lang="en-US" sz="1000" b="1" dirty="0">
                <a:solidFill>
                  <a:schemeClr val="bg1"/>
                </a:solidFill>
              </a:rPr>
              <a:t>Q4 2026</a:t>
            </a:r>
            <a:endParaRPr lang="en-US" sz="1000" dirty="0"/>
          </a:p>
        </p:txBody>
      </p:sp>
      <p:sp>
        <p:nvSpPr>
          <p:cNvPr id="23" name="dot-151"/>
          <p:cNvSpPr/>
          <p:nvPr/>
        </p:nvSpPr>
        <p:spPr>
          <a:xfrm>
            <a:off x="6995160" y="3355848"/>
            <a:ext cx="146304" cy="146304"/>
          </a:xfrm>
          <a:prstGeom prst="ellipse">
            <a:avLst/>
          </a:prstGeom>
          <a:solidFill>
            <a:schemeClr val="accent1"/>
          </a:solidFill>
          <a:ln w="12700">
            <a:solidFill>
              <a:schemeClr val="accent1"/>
            </a:solidFill>
            <a:prstDash val="solid"/>
          </a:ln>
        </p:spPr>
        <p:txBody>
          <a:bodyPr/>
          <a:lstStyle/>
          <a:p>
            <a:endParaRPr lang="en-US"/>
          </a:p>
        </p:txBody>
      </p:sp>
      <p:sp>
        <p:nvSpPr>
          <p:cNvPr id="24" name="text-152"/>
          <p:cNvSpPr txBox="1"/>
          <p:nvPr/>
        </p:nvSpPr>
        <p:spPr>
          <a:xfrm>
            <a:off x="7269480" y="3246120"/>
            <a:ext cx="3246120" cy="365760"/>
          </a:xfrm>
          <a:prstGeom prst="rect">
            <a:avLst/>
          </a:prstGeom>
          <a:noFill/>
          <a:ln/>
        </p:spPr>
        <p:txBody>
          <a:bodyPr wrap="square" lIns="0" tIns="0" rIns="0" bIns="0" rtlCol="0" anchor="ctr"/>
          <a:lstStyle/>
          <a:p>
            <a:pPr marL="0" indent="0">
              <a:buNone/>
            </a:pPr>
            <a:r>
              <a:rPr lang="en-US" sz="1200" dirty="0">
                <a:solidFill>
                  <a:schemeClr val="tx1"/>
                </a:solidFill>
              </a:rPr>
              <a:t>Versioning &amp; consistency engine</a:t>
            </a:r>
            <a:endParaRPr lang="en-US" sz="1200" dirty="0"/>
          </a:p>
        </p:txBody>
      </p:sp>
      <p:sp>
        <p:nvSpPr>
          <p:cNvPr id="25" name="chip-153"/>
          <p:cNvSpPr/>
          <p:nvPr/>
        </p:nvSpPr>
        <p:spPr>
          <a:xfrm>
            <a:off x="10607040" y="3282696"/>
            <a:ext cx="82296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26" name="text-154"/>
          <p:cNvSpPr txBox="1"/>
          <p:nvPr/>
        </p:nvSpPr>
        <p:spPr>
          <a:xfrm>
            <a:off x="10607040" y="3282696"/>
            <a:ext cx="822960" cy="292608"/>
          </a:xfrm>
          <a:prstGeom prst="rect">
            <a:avLst/>
          </a:prstGeom>
          <a:noFill/>
          <a:ln/>
        </p:spPr>
        <p:txBody>
          <a:bodyPr wrap="square" lIns="0" tIns="0" rIns="0" bIns="0" rtlCol="0" anchor="ctr"/>
          <a:lstStyle/>
          <a:p>
            <a:pPr marL="0" indent="0" algn="ctr">
              <a:buNone/>
            </a:pPr>
            <a:r>
              <a:rPr lang="en-US" sz="1000" b="1" dirty="0">
                <a:solidFill>
                  <a:schemeClr val="bg1"/>
                </a:solidFill>
              </a:rPr>
              <a:t>Q4 2026</a:t>
            </a:r>
            <a:endParaRPr lang="en-US" sz="1000" dirty="0"/>
          </a:p>
        </p:txBody>
      </p:sp>
      <p:sp>
        <p:nvSpPr>
          <p:cNvPr id="27" name="dot-155"/>
          <p:cNvSpPr/>
          <p:nvPr/>
        </p:nvSpPr>
        <p:spPr>
          <a:xfrm>
            <a:off x="6995160" y="3858768"/>
            <a:ext cx="146304" cy="146304"/>
          </a:xfrm>
          <a:prstGeom prst="ellipse">
            <a:avLst/>
          </a:prstGeom>
          <a:solidFill>
            <a:schemeClr val="accent1"/>
          </a:solidFill>
          <a:ln w="12700">
            <a:solidFill>
              <a:schemeClr val="accent1"/>
            </a:solidFill>
            <a:prstDash val="solid"/>
          </a:ln>
        </p:spPr>
        <p:txBody>
          <a:bodyPr/>
          <a:lstStyle/>
          <a:p>
            <a:endParaRPr lang="en-US"/>
          </a:p>
        </p:txBody>
      </p:sp>
      <p:sp>
        <p:nvSpPr>
          <p:cNvPr id="28" name="text-156"/>
          <p:cNvSpPr txBox="1"/>
          <p:nvPr/>
        </p:nvSpPr>
        <p:spPr>
          <a:xfrm>
            <a:off x="7269480" y="3749040"/>
            <a:ext cx="3246120" cy="365760"/>
          </a:xfrm>
          <a:prstGeom prst="rect">
            <a:avLst/>
          </a:prstGeom>
          <a:noFill/>
          <a:ln/>
        </p:spPr>
        <p:txBody>
          <a:bodyPr wrap="square" lIns="0" tIns="0" rIns="0" bIns="0" rtlCol="0" anchor="ctr"/>
          <a:lstStyle/>
          <a:p>
            <a:pPr marL="0" indent="0">
              <a:buNone/>
            </a:pPr>
            <a:r>
              <a:rPr lang="en-US" sz="1200" dirty="0">
                <a:solidFill>
                  <a:schemeClr val="tx1"/>
                </a:solidFill>
              </a:rPr>
              <a:t>User-specific caching &amp; preprocessing</a:t>
            </a:r>
            <a:endParaRPr lang="en-US" sz="1200" dirty="0"/>
          </a:p>
        </p:txBody>
      </p:sp>
      <p:sp>
        <p:nvSpPr>
          <p:cNvPr id="29" name="chip-157"/>
          <p:cNvSpPr/>
          <p:nvPr/>
        </p:nvSpPr>
        <p:spPr>
          <a:xfrm>
            <a:off x="10607040" y="3785616"/>
            <a:ext cx="82296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30" name="text-158"/>
          <p:cNvSpPr txBox="1"/>
          <p:nvPr/>
        </p:nvSpPr>
        <p:spPr>
          <a:xfrm>
            <a:off x="10607040" y="3785616"/>
            <a:ext cx="822960" cy="292608"/>
          </a:xfrm>
          <a:prstGeom prst="rect">
            <a:avLst/>
          </a:prstGeom>
          <a:noFill/>
          <a:ln/>
        </p:spPr>
        <p:txBody>
          <a:bodyPr wrap="square" lIns="0" tIns="0" rIns="0" bIns="0" rtlCol="0" anchor="ctr"/>
          <a:lstStyle/>
          <a:p>
            <a:pPr marL="0" indent="0" algn="ctr">
              <a:buNone/>
            </a:pPr>
            <a:r>
              <a:rPr lang="en-US" sz="1000" b="1" dirty="0">
                <a:solidFill>
                  <a:schemeClr val="bg1"/>
                </a:solidFill>
              </a:rPr>
              <a:t>Q4 2026</a:t>
            </a:r>
            <a:endParaRPr lang="en-US" sz="1000" dirty="0"/>
          </a:p>
        </p:txBody>
      </p:sp>
      <p:sp>
        <p:nvSpPr>
          <p:cNvPr id="31" name="dot-159"/>
          <p:cNvSpPr/>
          <p:nvPr/>
        </p:nvSpPr>
        <p:spPr>
          <a:xfrm>
            <a:off x="6995160" y="4361688"/>
            <a:ext cx="146304" cy="146304"/>
          </a:xfrm>
          <a:prstGeom prst="ellipse">
            <a:avLst/>
          </a:prstGeom>
          <a:solidFill>
            <a:schemeClr val="accent1"/>
          </a:solidFill>
          <a:ln w="12700">
            <a:solidFill>
              <a:schemeClr val="accent1"/>
            </a:solidFill>
            <a:prstDash val="solid"/>
          </a:ln>
        </p:spPr>
        <p:txBody>
          <a:bodyPr/>
          <a:lstStyle/>
          <a:p>
            <a:endParaRPr lang="en-US"/>
          </a:p>
        </p:txBody>
      </p:sp>
      <p:sp>
        <p:nvSpPr>
          <p:cNvPr id="32" name="text-160"/>
          <p:cNvSpPr txBox="1"/>
          <p:nvPr/>
        </p:nvSpPr>
        <p:spPr>
          <a:xfrm>
            <a:off x="7269480" y="4251960"/>
            <a:ext cx="3246120" cy="365760"/>
          </a:xfrm>
          <a:prstGeom prst="rect">
            <a:avLst/>
          </a:prstGeom>
          <a:noFill/>
          <a:ln/>
        </p:spPr>
        <p:txBody>
          <a:bodyPr wrap="square" lIns="0" tIns="0" rIns="0" bIns="0" rtlCol="0" anchor="ctr"/>
          <a:lstStyle/>
          <a:p>
            <a:pPr marL="0" indent="0">
              <a:buNone/>
            </a:pPr>
            <a:r>
              <a:rPr lang="en-US" sz="1200" dirty="0">
                <a:solidFill>
                  <a:schemeClr val="tx1"/>
                </a:solidFill>
              </a:rPr>
              <a:t>Real-time temperature processing (cell &amp; gene)</a:t>
            </a:r>
            <a:endParaRPr lang="en-US" sz="1200" dirty="0"/>
          </a:p>
        </p:txBody>
      </p:sp>
      <p:sp>
        <p:nvSpPr>
          <p:cNvPr id="33" name="chip-161"/>
          <p:cNvSpPr/>
          <p:nvPr/>
        </p:nvSpPr>
        <p:spPr>
          <a:xfrm>
            <a:off x="10607040" y="4288536"/>
            <a:ext cx="822960" cy="292608"/>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34" name="text-162"/>
          <p:cNvSpPr txBox="1"/>
          <p:nvPr/>
        </p:nvSpPr>
        <p:spPr>
          <a:xfrm>
            <a:off x="10607040" y="4288536"/>
            <a:ext cx="822960" cy="292608"/>
          </a:xfrm>
          <a:prstGeom prst="rect">
            <a:avLst/>
          </a:prstGeom>
          <a:noFill/>
          <a:ln/>
        </p:spPr>
        <p:txBody>
          <a:bodyPr wrap="square" lIns="0" tIns="0" rIns="0" bIns="0" rtlCol="0" anchor="ctr"/>
          <a:lstStyle/>
          <a:p>
            <a:pPr marL="0" indent="0" algn="ctr">
              <a:buNone/>
            </a:pPr>
            <a:r>
              <a:rPr lang="en-US" sz="1000" b="1" dirty="0">
                <a:solidFill>
                  <a:schemeClr val="bg1"/>
                </a:solidFill>
              </a:rPr>
              <a:t>Q1 2027</a:t>
            </a:r>
            <a:endParaRPr lang="en-US" sz="1000" dirty="0"/>
          </a:p>
        </p:txBody>
      </p:sp>
      <p:sp>
        <p:nvSpPr>
          <p:cNvPr id="35" name="dot-163"/>
          <p:cNvSpPr/>
          <p:nvPr/>
        </p:nvSpPr>
        <p:spPr>
          <a:xfrm>
            <a:off x="6995160" y="4864608"/>
            <a:ext cx="146304" cy="146304"/>
          </a:xfrm>
          <a:prstGeom prst="ellipse">
            <a:avLst/>
          </a:prstGeom>
          <a:solidFill>
            <a:schemeClr val="accent1"/>
          </a:solidFill>
          <a:ln w="12700">
            <a:solidFill>
              <a:schemeClr val="accent1"/>
            </a:solidFill>
            <a:prstDash val="solid"/>
          </a:ln>
        </p:spPr>
        <p:txBody>
          <a:bodyPr/>
          <a:lstStyle/>
          <a:p>
            <a:endParaRPr lang="en-US"/>
          </a:p>
        </p:txBody>
      </p:sp>
      <p:sp>
        <p:nvSpPr>
          <p:cNvPr id="36" name="text-164"/>
          <p:cNvSpPr txBox="1"/>
          <p:nvPr/>
        </p:nvSpPr>
        <p:spPr>
          <a:xfrm>
            <a:off x="7269480" y="4754880"/>
            <a:ext cx="3246120" cy="365760"/>
          </a:xfrm>
          <a:prstGeom prst="rect">
            <a:avLst/>
          </a:prstGeom>
          <a:noFill/>
          <a:ln/>
        </p:spPr>
        <p:txBody>
          <a:bodyPr wrap="square" lIns="0" tIns="0" rIns="0" bIns="0" rtlCol="0" anchor="ctr"/>
          <a:lstStyle/>
          <a:p>
            <a:pPr marL="0" indent="0">
              <a:buNone/>
            </a:pPr>
            <a:r>
              <a:rPr lang="en-US" sz="1200" dirty="0">
                <a:solidFill>
                  <a:schemeClr val="tx1"/>
                </a:solidFill>
              </a:rPr>
              <a:t>Decoupler API</a:t>
            </a:r>
            <a:endParaRPr lang="en-US" sz="1200" dirty="0"/>
          </a:p>
        </p:txBody>
      </p:sp>
      <p:sp>
        <p:nvSpPr>
          <p:cNvPr id="37" name="chip-165"/>
          <p:cNvSpPr/>
          <p:nvPr/>
        </p:nvSpPr>
        <p:spPr>
          <a:xfrm>
            <a:off x="10607040" y="4791456"/>
            <a:ext cx="822960" cy="292608"/>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38" name="text-166"/>
          <p:cNvSpPr txBox="1"/>
          <p:nvPr/>
        </p:nvSpPr>
        <p:spPr>
          <a:xfrm>
            <a:off x="10607040" y="4791456"/>
            <a:ext cx="822960" cy="292608"/>
          </a:xfrm>
          <a:prstGeom prst="rect">
            <a:avLst/>
          </a:prstGeom>
          <a:noFill/>
          <a:ln/>
        </p:spPr>
        <p:txBody>
          <a:bodyPr wrap="square" lIns="0" tIns="0" rIns="0" bIns="0" rtlCol="0" anchor="ctr"/>
          <a:lstStyle/>
          <a:p>
            <a:pPr marL="0" indent="0" algn="ctr">
              <a:buNone/>
            </a:pPr>
            <a:r>
              <a:rPr lang="en-US" sz="1000" b="1" dirty="0">
                <a:solidFill>
                  <a:schemeClr val="bg1"/>
                </a:solidFill>
              </a:rPr>
              <a:t>Q1 2027</a:t>
            </a:r>
            <a:endParaRPr lang="en-US" sz="1000" dirty="0"/>
          </a:p>
        </p:txBody>
      </p:sp>
      <p:sp>
        <p:nvSpPr>
          <p:cNvPr id="39" name="text-167"/>
          <p:cNvSpPr txBox="1"/>
          <p:nvPr/>
        </p:nvSpPr>
        <p:spPr>
          <a:xfrm>
            <a:off x="6995160" y="5303520"/>
            <a:ext cx="4480560" cy="658368"/>
          </a:xfrm>
          <a:prstGeom prst="rect">
            <a:avLst/>
          </a:prstGeom>
          <a:noFill/>
          <a:ln/>
        </p:spPr>
        <p:txBody>
          <a:bodyPr wrap="square" lIns="0" tIns="0" rIns="0" bIns="0" rtlCol="0" anchor="t"/>
          <a:lstStyle/>
          <a:p>
            <a:pPr marL="0" indent="0">
              <a:lnSpc>
                <a:spcPct val="105000"/>
              </a:lnSpc>
              <a:buNone/>
            </a:pPr>
            <a:r>
              <a:rPr lang="en-US" sz="950" dirty="0">
                <a:solidFill>
                  <a:schemeClr val="accent6"/>
                </a:solidFill>
              </a:rPr>
              <a:t>In Jira: VALCM issues labelled wbso. 2026 epics include Customs risk in LRAs, Lane Versioning, Mass Lane Upload (KN format), Supplier audits in the LRA and customer-specific Country Risk Scores.</a:t>
            </a:r>
            <a:endParaRPr lang="en-US" sz="950" dirty="0"/>
          </a:p>
        </p:txBody>
      </p:sp>
      <p:sp>
        <p:nvSpPr>
          <p:cNvPr id="40" name="text-168"/>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b="1" dirty="0">
                <a:solidFill>
                  <a:schemeClr val="tx2"/>
                </a:solidFill>
              </a:rPr>
              <a:t>2025, closed: </a:t>
            </a:r>
            <a:r>
              <a:rPr lang="en-US" sz="1000" dirty="0">
                <a:solidFill>
                  <a:schemeClr val="accent6"/>
                </a:solidFill>
              </a:rPr>
              <a:t>2301 Platform Growth &amp; Custom Code at Scale  ·  2302 Orchestration &amp; Just-in-Time transition, 3,500 h each.</a:t>
            </a:r>
            <a:endParaRPr lang="en-US" sz="1000" dirty="0"/>
          </a:p>
        </p:txBody>
      </p:sp>
      <p:sp>
        <p:nvSpPr>
          <p:cNvPr id="41"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How we used to report: manual timesheets</a:t>
            </a:r>
            <a:endParaRPr lang="en-US" sz="3000" dirty="0"/>
          </a:p>
        </p:txBody>
      </p:sp>
      <p:sp>
        <p:nvSpPr>
          <p:cNvPr id="3" name="icon-bg-169"/>
          <p:cNvSpPr/>
          <p:nvPr/>
        </p:nvSpPr>
        <p:spPr>
          <a:xfrm>
            <a:off x="548640" y="1371600"/>
            <a:ext cx="548640" cy="548640"/>
          </a:xfrm>
          <a:prstGeom prst="ellipse">
            <a:avLst/>
          </a:prstGeom>
          <a:solidFill>
            <a:schemeClr val="accent3"/>
          </a:solidFill>
          <a:ln w="12700">
            <a:solidFill>
              <a:schemeClr val="accent3"/>
            </a:solidFill>
            <a:prstDash val="solid"/>
          </a:ln>
        </p:spPr>
        <p:txBody>
          <a:bodyPr/>
          <a:lstStyle/>
          <a:p>
            <a:endParaRPr lang="en-US"/>
          </a:p>
        </p:txBody>
      </p:sp>
      <p:pic>
        <p:nvPicPr>
          <p:cNvPr id="4" name="icon-170" descr="preencoded.png"/>
          <p:cNvPicPr>
            <a:picLocks noChangeAspect="1"/>
          </p:cNvPicPr>
          <p:nvPr/>
        </p:nvPicPr>
        <p:blipFill>
          <a:blip r:embed="rId3"/>
          <a:stretch>
            <a:fillRect/>
          </a:stretch>
        </p:blipFill>
        <p:spPr>
          <a:xfrm>
            <a:off x="680314" y="1503274"/>
            <a:ext cx="285293" cy="285293"/>
          </a:xfrm>
          <a:prstGeom prst="rect">
            <a:avLst/>
          </a:prstGeom>
        </p:spPr>
      </p:pic>
      <p:sp>
        <p:nvSpPr>
          <p:cNvPr id="5" name="connector-171"/>
          <p:cNvSpPr/>
          <p:nvPr/>
        </p:nvSpPr>
        <p:spPr>
          <a:xfrm>
            <a:off x="822960" y="1920240"/>
            <a:ext cx="0" cy="594360"/>
          </a:xfrm>
          <a:prstGeom prst="line">
            <a:avLst/>
          </a:prstGeom>
          <a:noFill/>
          <a:ln w="19050">
            <a:solidFill>
              <a:schemeClr val="accent2"/>
            </a:solidFill>
            <a:prstDash val="dash"/>
          </a:ln>
        </p:spPr>
        <p:txBody>
          <a:bodyPr/>
          <a:lstStyle/>
          <a:p>
            <a:endParaRPr lang="en-US"/>
          </a:p>
        </p:txBody>
      </p:sp>
      <p:sp>
        <p:nvSpPr>
          <p:cNvPr id="6" name="text-172"/>
          <p:cNvSpPr txBox="1"/>
          <p:nvPr/>
        </p:nvSpPr>
        <p:spPr>
          <a:xfrm>
            <a:off x="1325880" y="1353312"/>
            <a:ext cx="4846320" cy="320040"/>
          </a:xfrm>
          <a:prstGeom prst="rect">
            <a:avLst/>
          </a:prstGeom>
          <a:noFill/>
          <a:ln/>
        </p:spPr>
        <p:txBody>
          <a:bodyPr wrap="square" lIns="0" tIns="0" rIns="0" bIns="0" rtlCol="0" anchor="t"/>
          <a:lstStyle/>
          <a:p>
            <a:pPr marL="0" indent="0">
              <a:buNone/>
            </a:pPr>
            <a:r>
              <a:rPr lang="en-US" sz="1500" b="1" dirty="0">
                <a:solidFill>
                  <a:schemeClr val="tx2"/>
                </a:solidFill>
              </a:rPr>
              <a:t>Nine personal timesheets</a:t>
            </a:r>
            <a:endParaRPr lang="en-US" sz="1500" dirty="0"/>
          </a:p>
        </p:txBody>
      </p:sp>
      <p:sp>
        <p:nvSpPr>
          <p:cNvPr id="7" name="text-173"/>
          <p:cNvSpPr txBox="1"/>
          <p:nvPr/>
        </p:nvSpPr>
        <p:spPr>
          <a:xfrm>
            <a:off x="1325880" y="1691640"/>
            <a:ext cx="4846320" cy="731520"/>
          </a:xfrm>
          <a:prstGeom prst="rect">
            <a:avLst/>
          </a:prstGeom>
          <a:noFill/>
          <a:ln/>
        </p:spPr>
        <p:txBody>
          <a:bodyPr wrap="square" lIns="0" tIns="0" rIns="0" bIns="0" rtlCol="0" anchor="t"/>
          <a:lstStyle/>
          <a:p>
            <a:pPr marL="0" indent="0">
              <a:lnSpc>
                <a:spcPct val="110000"/>
              </a:lnSpc>
              <a:buNone/>
            </a:pPr>
            <a:r>
              <a:rPr lang="en-US" sz="1200" dirty="0">
                <a:solidFill>
                  <a:schemeClr val="tx1"/>
                </a:solidFill>
              </a:rPr>
              <a:t>Each engineer kept an Excel workbook and filled in WBSO hours per month, from memory, after the fact.</a:t>
            </a:r>
            <a:endParaRPr lang="en-US" sz="1200" dirty="0"/>
          </a:p>
        </p:txBody>
      </p:sp>
      <p:sp>
        <p:nvSpPr>
          <p:cNvPr id="8" name="icon-bg-174"/>
          <p:cNvSpPr/>
          <p:nvPr/>
        </p:nvSpPr>
        <p:spPr>
          <a:xfrm>
            <a:off x="548640" y="2514600"/>
            <a:ext cx="548640" cy="548640"/>
          </a:xfrm>
          <a:prstGeom prst="ellipse">
            <a:avLst/>
          </a:prstGeom>
          <a:solidFill>
            <a:schemeClr val="accent3"/>
          </a:solidFill>
          <a:ln w="12700">
            <a:solidFill>
              <a:schemeClr val="accent3"/>
            </a:solidFill>
            <a:prstDash val="solid"/>
          </a:ln>
        </p:spPr>
        <p:txBody>
          <a:bodyPr/>
          <a:lstStyle/>
          <a:p>
            <a:endParaRPr lang="en-US"/>
          </a:p>
        </p:txBody>
      </p:sp>
      <p:pic>
        <p:nvPicPr>
          <p:cNvPr id="9" name="icon-175" descr="preencoded.png"/>
          <p:cNvPicPr>
            <a:picLocks noChangeAspect="1"/>
          </p:cNvPicPr>
          <p:nvPr/>
        </p:nvPicPr>
        <p:blipFill>
          <a:blip r:embed="rId4"/>
          <a:stretch>
            <a:fillRect/>
          </a:stretch>
        </p:blipFill>
        <p:spPr>
          <a:xfrm>
            <a:off x="680314" y="2646274"/>
            <a:ext cx="285293" cy="285293"/>
          </a:xfrm>
          <a:prstGeom prst="rect">
            <a:avLst/>
          </a:prstGeom>
        </p:spPr>
      </p:pic>
      <p:sp>
        <p:nvSpPr>
          <p:cNvPr id="10" name="connector-176"/>
          <p:cNvSpPr/>
          <p:nvPr/>
        </p:nvSpPr>
        <p:spPr>
          <a:xfrm>
            <a:off x="822960" y="3063240"/>
            <a:ext cx="0" cy="594360"/>
          </a:xfrm>
          <a:prstGeom prst="line">
            <a:avLst/>
          </a:prstGeom>
          <a:noFill/>
          <a:ln w="19050">
            <a:solidFill>
              <a:schemeClr val="accent2"/>
            </a:solidFill>
            <a:prstDash val="dash"/>
          </a:ln>
        </p:spPr>
        <p:txBody>
          <a:bodyPr/>
          <a:lstStyle/>
          <a:p>
            <a:endParaRPr lang="en-US"/>
          </a:p>
        </p:txBody>
      </p:sp>
      <p:sp>
        <p:nvSpPr>
          <p:cNvPr id="11" name="text-177"/>
          <p:cNvSpPr txBox="1"/>
          <p:nvPr/>
        </p:nvSpPr>
        <p:spPr>
          <a:xfrm>
            <a:off x="1325880" y="2496312"/>
            <a:ext cx="4846320" cy="320040"/>
          </a:xfrm>
          <a:prstGeom prst="rect">
            <a:avLst/>
          </a:prstGeom>
          <a:noFill/>
          <a:ln/>
        </p:spPr>
        <p:txBody>
          <a:bodyPr wrap="square" lIns="0" tIns="0" rIns="0" bIns="0" rtlCol="0" anchor="t"/>
          <a:lstStyle/>
          <a:p>
            <a:pPr marL="0" indent="0">
              <a:buNone/>
            </a:pPr>
            <a:r>
              <a:rPr lang="en-US" sz="1500" b="1" dirty="0">
                <a:solidFill>
                  <a:schemeClr val="tx2"/>
                </a:solidFill>
              </a:rPr>
              <a:t>One overview workbook</a:t>
            </a:r>
            <a:endParaRPr lang="en-US" sz="1500" dirty="0"/>
          </a:p>
        </p:txBody>
      </p:sp>
      <p:sp>
        <p:nvSpPr>
          <p:cNvPr id="12" name="text-178"/>
          <p:cNvSpPr txBox="1"/>
          <p:nvPr/>
        </p:nvSpPr>
        <p:spPr>
          <a:xfrm>
            <a:off x="1325880" y="2834640"/>
            <a:ext cx="4846320" cy="731520"/>
          </a:xfrm>
          <a:prstGeom prst="rect">
            <a:avLst/>
          </a:prstGeom>
          <a:noFill/>
          <a:ln/>
        </p:spPr>
        <p:txBody>
          <a:bodyPr wrap="square" lIns="0" tIns="0" rIns="0" bIns="0" rtlCol="0" anchor="t"/>
          <a:lstStyle/>
          <a:p>
            <a:pPr marL="0" indent="0">
              <a:lnSpc>
                <a:spcPct val="110000"/>
              </a:lnSpc>
              <a:buNone/>
            </a:pPr>
            <a:r>
              <a:rPr lang="en-US" sz="1200" dirty="0">
                <a:solidFill>
                  <a:schemeClr val="tx1"/>
                </a:solidFill>
              </a:rPr>
              <a:t>Pulled the monthly totals through external links, per project (2301, 2302) and per employee, including their BSN.</a:t>
            </a:r>
            <a:endParaRPr lang="en-US" sz="1200" dirty="0"/>
          </a:p>
        </p:txBody>
      </p:sp>
      <p:sp>
        <p:nvSpPr>
          <p:cNvPr id="13" name="icon-bg-179"/>
          <p:cNvSpPr/>
          <p:nvPr/>
        </p:nvSpPr>
        <p:spPr>
          <a:xfrm>
            <a:off x="548640" y="3657600"/>
            <a:ext cx="548640" cy="548640"/>
          </a:xfrm>
          <a:prstGeom prst="ellipse">
            <a:avLst/>
          </a:prstGeom>
          <a:solidFill>
            <a:schemeClr val="accent3"/>
          </a:solidFill>
          <a:ln w="12700">
            <a:solidFill>
              <a:schemeClr val="accent3"/>
            </a:solidFill>
            <a:prstDash val="solid"/>
          </a:ln>
        </p:spPr>
        <p:txBody>
          <a:bodyPr/>
          <a:lstStyle/>
          <a:p>
            <a:endParaRPr lang="en-US"/>
          </a:p>
        </p:txBody>
      </p:sp>
      <p:pic>
        <p:nvPicPr>
          <p:cNvPr id="14" name="icon-180" descr="preencoded.png"/>
          <p:cNvPicPr>
            <a:picLocks noChangeAspect="1"/>
          </p:cNvPicPr>
          <p:nvPr/>
        </p:nvPicPr>
        <p:blipFill>
          <a:blip r:embed="rId5"/>
          <a:stretch>
            <a:fillRect/>
          </a:stretch>
        </p:blipFill>
        <p:spPr>
          <a:xfrm>
            <a:off x="680314" y="3789274"/>
            <a:ext cx="285293" cy="285293"/>
          </a:xfrm>
          <a:prstGeom prst="rect">
            <a:avLst/>
          </a:prstGeom>
        </p:spPr>
      </p:pic>
      <p:sp>
        <p:nvSpPr>
          <p:cNvPr id="15" name="connector-181"/>
          <p:cNvSpPr/>
          <p:nvPr/>
        </p:nvSpPr>
        <p:spPr>
          <a:xfrm>
            <a:off x="822960" y="4206240"/>
            <a:ext cx="0" cy="594360"/>
          </a:xfrm>
          <a:prstGeom prst="line">
            <a:avLst/>
          </a:prstGeom>
          <a:noFill/>
          <a:ln w="19050">
            <a:solidFill>
              <a:schemeClr val="accent2"/>
            </a:solidFill>
            <a:prstDash val="dash"/>
          </a:ln>
        </p:spPr>
        <p:txBody>
          <a:bodyPr/>
          <a:lstStyle/>
          <a:p>
            <a:endParaRPr lang="en-US"/>
          </a:p>
        </p:txBody>
      </p:sp>
      <p:sp>
        <p:nvSpPr>
          <p:cNvPr id="16" name="text-182"/>
          <p:cNvSpPr txBox="1"/>
          <p:nvPr/>
        </p:nvSpPr>
        <p:spPr>
          <a:xfrm>
            <a:off x="1325880" y="3639312"/>
            <a:ext cx="4846320" cy="320040"/>
          </a:xfrm>
          <a:prstGeom prst="rect">
            <a:avLst/>
          </a:prstGeom>
          <a:noFill/>
          <a:ln/>
        </p:spPr>
        <p:txBody>
          <a:bodyPr wrap="square" lIns="0" tIns="0" rIns="0" bIns="0" rtlCol="0" anchor="t"/>
          <a:lstStyle/>
          <a:p>
            <a:pPr marL="0" indent="0">
              <a:buNone/>
            </a:pPr>
            <a:r>
              <a:rPr lang="en-US" sz="1500" b="1" dirty="0">
                <a:solidFill>
                  <a:schemeClr val="tx2"/>
                </a:solidFill>
              </a:rPr>
              <a:t>Hand-over to SubVice</a:t>
            </a:r>
            <a:endParaRPr lang="en-US" sz="1500" dirty="0"/>
          </a:p>
        </p:txBody>
      </p:sp>
      <p:sp>
        <p:nvSpPr>
          <p:cNvPr id="17" name="text-183"/>
          <p:cNvSpPr txBox="1"/>
          <p:nvPr/>
        </p:nvSpPr>
        <p:spPr>
          <a:xfrm>
            <a:off x="1325880" y="3977640"/>
            <a:ext cx="4846320" cy="731520"/>
          </a:xfrm>
          <a:prstGeom prst="rect">
            <a:avLst/>
          </a:prstGeom>
          <a:noFill/>
          <a:ln/>
        </p:spPr>
        <p:txBody>
          <a:bodyPr wrap="square" lIns="0" tIns="0" rIns="0" bIns="0" rtlCol="0" anchor="t"/>
          <a:lstStyle/>
          <a:p>
            <a:pPr marL="0" indent="0">
              <a:lnSpc>
                <a:spcPct val="110000"/>
              </a:lnSpc>
              <a:buNone/>
            </a:pPr>
            <a:r>
              <a:rPr lang="en-US" sz="1200" dirty="0">
                <a:solidFill>
                  <a:schemeClr val="tx1"/>
                </a:solidFill>
              </a:rPr>
              <a:t>The totals went to the intermediary, who filed the realisation with RVO on 25 March 2026.</a:t>
            </a:r>
            <a:endParaRPr lang="en-US" sz="1200" dirty="0"/>
          </a:p>
        </p:txBody>
      </p:sp>
      <p:sp>
        <p:nvSpPr>
          <p:cNvPr id="18" name="icon-bg-184"/>
          <p:cNvSpPr/>
          <p:nvPr/>
        </p:nvSpPr>
        <p:spPr>
          <a:xfrm>
            <a:off x="548640" y="4800600"/>
            <a:ext cx="548640" cy="548640"/>
          </a:xfrm>
          <a:prstGeom prst="ellipse">
            <a:avLst/>
          </a:prstGeom>
          <a:solidFill>
            <a:schemeClr val="accent3"/>
          </a:solidFill>
          <a:ln w="12700">
            <a:solidFill>
              <a:schemeClr val="accent3"/>
            </a:solidFill>
            <a:prstDash val="solid"/>
          </a:ln>
        </p:spPr>
        <p:txBody>
          <a:bodyPr/>
          <a:lstStyle/>
          <a:p>
            <a:endParaRPr lang="en-US"/>
          </a:p>
        </p:txBody>
      </p:sp>
      <p:pic>
        <p:nvPicPr>
          <p:cNvPr id="19" name="icon-185" descr="preencoded.png"/>
          <p:cNvPicPr>
            <a:picLocks noChangeAspect="1"/>
          </p:cNvPicPr>
          <p:nvPr/>
        </p:nvPicPr>
        <p:blipFill>
          <a:blip r:embed="rId6"/>
          <a:stretch>
            <a:fillRect/>
          </a:stretch>
        </p:blipFill>
        <p:spPr>
          <a:xfrm>
            <a:off x="680314" y="4932274"/>
            <a:ext cx="285293" cy="285293"/>
          </a:xfrm>
          <a:prstGeom prst="rect">
            <a:avLst/>
          </a:prstGeom>
        </p:spPr>
      </p:pic>
      <p:sp>
        <p:nvSpPr>
          <p:cNvPr id="20" name="text-186"/>
          <p:cNvSpPr txBox="1"/>
          <p:nvPr/>
        </p:nvSpPr>
        <p:spPr>
          <a:xfrm>
            <a:off x="1325880" y="4782312"/>
            <a:ext cx="4846320" cy="320040"/>
          </a:xfrm>
          <a:prstGeom prst="rect">
            <a:avLst/>
          </a:prstGeom>
          <a:noFill/>
          <a:ln/>
        </p:spPr>
        <p:txBody>
          <a:bodyPr wrap="square" lIns="0" tIns="0" rIns="0" bIns="0" rtlCol="0" anchor="t"/>
          <a:lstStyle/>
          <a:p>
            <a:pPr marL="0" indent="0">
              <a:buNone/>
            </a:pPr>
            <a:r>
              <a:rPr lang="en-US" sz="1500" b="1" dirty="0">
                <a:solidFill>
                  <a:schemeClr val="tx2"/>
                </a:solidFill>
              </a:rPr>
              <a:t>No evidence trail</a:t>
            </a:r>
            <a:endParaRPr lang="en-US" sz="1500" dirty="0"/>
          </a:p>
        </p:txBody>
      </p:sp>
      <p:sp>
        <p:nvSpPr>
          <p:cNvPr id="21" name="text-187"/>
          <p:cNvSpPr txBox="1"/>
          <p:nvPr/>
        </p:nvSpPr>
        <p:spPr>
          <a:xfrm>
            <a:off x="1325880" y="5120640"/>
            <a:ext cx="4846320" cy="731520"/>
          </a:xfrm>
          <a:prstGeom prst="rect">
            <a:avLst/>
          </a:prstGeom>
          <a:noFill/>
          <a:ln/>
        </p:spPr>
        <p:txBody>
          <a:bodyPr wrap="square" lIns="0" tIns="0" rIns="0" bIns="0" rtlCol="0" anchor="t"/>
          <a:lstStyle/>
          <a:p>
            <a:pPr marL="0" indent="0">
              <a:lnSpc>
                <a:spcPct val="110000"/>
              </a:lnSpc>
              <a:buNone/>
            </a:pPr>
            <a:r>
              <a:rPr lang="en-US" sz="1200" dirty="0">
                <a:solidFill>
                  <a:schemeClr val="tx1"/>
                </a:solidFill>
              </a:rPr>
              <a:t>Nothing tied an hour to a ticket, a status change or a commit. Nine people had to remember, and most did not.</a:t>
            </a:r>
            <a:endParaRPr lang="en-US" sz="1200" dirty="0"/>
          </a:p>
        </p:txBody>
      </p:sp>
      <p:sp>
        <p:nvSpPr>
          <p:cNvPr id="22" name="card-188"/>
          <p:cNvSpPr/>
          <p:nvPr/>
        </p:nvSpPr>
        <p:spPr>
          <a:xfrm>
            <a:off x="6766560" y="1371600"/>
            <a:ext cx="4892040" cy="4663440"/>
          </a:xfrm>
          <a:prstGeom prst="roundRect">
            <a:avLst>
              <a:gd name="adj" fmla="val 1961"/>
            </a:avLst>
          </a:prstGeom>
          <a:solidFill>
            <a:schemeClr val="tx2"/>
          </a:solidFill>
          <a:ln w="12700">
            <a:solidFill>
              <a:schemeClr val="tx2"/>
            </a:solidFill>
            <a:prstDash val="solid"/>
          </a:ln>
        </p:spPr>
        <p:txBody>
          <a:bodyPr/>
          <a:lstStyle/>
          <a:p>
            <a:endParaRPr lang="en-US"/>
          </a:p>
        </p:txBody>
      </p:sp>
      <p:sp>
        <p:nvSpPr>
          <p:cNvPr id="23" name="text-189"/>
          <p:cNvSpPr txBox="1"/>
          <p:nvPr/>
        </p:nvSpPr>
        <p:spPr>
          <a:xfrm>
            <a:off x="7086600" y="1600200"/>
            <a:ext cx="4297680" cy="320040"/>
          </a:xfrm>
          <a:prstGeom prst="rect">
            <a:avLst/>
          </a:prstGeom>
          <a:noFill/>
          <a:ln/>
        </p:spPr>
        <p:txBody>
          <a:bodyPr wrap="square" lIns="0" tIns="0" rIns="0" bIns="0" rtlCol="0" anchor="t"/>
          <a:lstStyle/>
          <a:p>
            <a:pPr marL="0" indent="0">
              <a:buNone/>
            </a:pPr>
            <a:r>
              <a:rPr lang="en-US" sz="1300" b="1" dirty="0">
                <a:solidFill>
                  <a:schemeClr val="accent2"/>
                </a:solidFill>
              </a:rPr>
              <a:t>What it cost us in 2025</a:t>
            </a:r>
            <a:endParaRPr lang="en-US" sz="1300" dirty="0"/>
          </a:p>
        </p:txBody>
      </p:sp>
      <p:sp>
        <p:nvSpPr>
          <p:cNvPr id="24" name="text-190"/>
          <p:cNvSpPr txBox="1"/>
          <p:nvPr/>
        </p:nvSpPr>
        <p:spPr>
          <a:xfrm>
            <a:off x="7086600" y="2011680"/>
            <a:ext cx="4297680" cy="731520"/>
          </a:xfrm>
          <a:prstGeom prst="rect">
            <a:avLst/>
          </a:prstGeom>
          <a:noFill/>
          <a:ln/>
        </p:spPr>
        <p:txBody>
          <a:bodyPr wrap="square" lIns="0" tIns="0" rIns="0" bIns="0" rtlCol="0" anchor="t"/>
          <a:lstStyle/>
          <a:p>
            <a:pPr marL="0" indent="0">
              <a:buNone/>
            </a:pPr>
            <a:r>
              <a:rPr lang="en-US" sz="4000" b="1" dirty="0">
                <a:solidFill>
                  <a:schemeClr val="bg1"/>
                </a:solidFill>
              </a:rPr>
              <a:t>7,000 h</a:t>
            </a:r>
            <a:endParaRPr lang="en-US" sz="4000" dirty="0"/>
          </a:p>
        </p:txBody>
      </p:sp>
      <p:sp>
        <p:nvSpPr>
          <p:cNvPr id="25" name="text-191"/>
          <p:cNvSpPr txBox="1"/>
          <p:nvPr/>
        </p:nvSpPr>
        <p:spPr>
          <a:xfrm>
            <a:off x="7086600" y="2743200"/>
            <a:ext cx="4297680" cy="320040"/>
          </a:xfrm>
          <a:prstGeom prst="rect">
            <a:avLst/>
          </a:prstGeom>
          <a:noFill/>
          <a:ln/>
        </p:spPr>
        <p:txBody>
          <a:bodyPr wrap="square" lIns="0" tIns="0" rIns="0" bIns="0" rtlCol="0" anchor="t"/>
          <a:lstStyle/>
          <a:p>
            <a:pPr marL="0" indent="0">
              <a:buNone/>
            </a:pPr>
            <a:r>
              <a:rPr lang="en-US" sz="1200" dirty="0">
                <a:solidFill>
                  <a:schemeClr val="bg2"/>
                </a:solidFill>
              </a:rPr>
              <a:t>granted by RVO for 2025</a:t>
            </a:r>
            <a:endParaRPr lang="en-US" sz="1200" dirty="0"/>
          </a:p>
        </p:txBody>
      </p:sp>
      <p:sp>
        <p:nvSpPr>
          <p:cNvPr id="26" name="text-192"/>
          <p:cNvSpPr txBox="1"/>
          <p:nvPr/>
        </p:nvSpPr>
        <p:spPr>
          <a:xfrm>
            <a:off x="7086600" y="3200400"/>
            <a:ext cx="4297680" cy="731520"/>
          </a:xfrm>
          <a:prstGeom prst="rect">
            <a:avLst/>
          </a:prstGeom>
          <a:noFill/>
          <a:ln/>
        </p:spPr>
        <p:txBody>
          <a:bodyPr wrap="square" lIns="0" tIns="0" rIns="0" bIns="0" rtlCol="0" anchor="t"/>
          <a:lstStyle/>
          <a:p>
            <a:pPr marL="0" indent="0">
              <a:buNone/>
            </a:pPr>
            <a:r>
              <a:rPr lang="en-US" sz="4000" b="1" dirty="0">
                <a:solidFill>
                  <a:schemeClr val="bg1"/>
                </a:solidFill>
              </a:rPr>
              <a:t>758 h</a:t>
            </a:r>
            <a:endParaRPr lang="en-US" sz="4000" dirty="0"/>
          </a:p>
        </p:txBody>
      </p:sp>
      <p:sp>
        <p:nvSpPr>
          <p:cNvPr id="27" name="text-193"/>
          <p:cNvSpPr txBox="1"/>
          <p:nvPr/>
        </p:nvSpPr>
        <p:spPr>
          <a:xfrm>
            <a:off x="7086600" y="3931920"/>
            <a:ext cx="4297680" cy="320040"/>
          </a:xfrm>
          <a:prstGeom prst="rect">
            <a:avLst/>
          </a:prstGeom>
          <a:noFill/>
          <a:ln/>
        </p:spPr>
        <p:txBody>
          <a:bodyPr wrap="square" lIns="0" tIns="0" rIns="0" bIns="0" rtlCol="0" anchor="t"/>
          <a:lstStyle/>
          <a:p>
            <a:pPr marL="0" indent="0">
              <a:buNone/>
            </a:pPr>
            <a:r>
              <a:rPr lang="en-US" sz="1200" dirty="0">
                <a:solidFill>
                  <a:schemeClr val="bg2"/>
                </a:solidFill>
              </a:rPr>
              <a:t>substantiated and reported (11%)</a:t>
            </a:r>
            <a:endParaRPr lang="en-US" sz="1200" dirty="0"/>
          </a:p>
        </p:txBody>
      </p:sp>
      <p:sp>
        <p:nvSpPr>
          <p:cNvPr id="28" name="text-194"/>
          <p:cNvSpPr txBox="1"/>
          <p:nvPr/>
        </p:nvSpPr>
        <p:spPr>
          <a:xfrm>
            <a:off x="7086600" y="4389120"/>
            <a:ext cx="4297680" cy="731520"/>
          </a:xfrm>
          <a:prstGeom prst="rect">
            <a:avLst/>
          </a:prstGeom>
          <a:noFill/>
          <a:ln/>
        </p:spPr>
        <p:txBody>
          <a:bodyPr wrap="square" lIns="0" tIns="0" rIns="0" bIns="0" rtlCol="0" anchor="t"/>
          <a:lstStyle/>
          <a:p>
            <a:pPr marL="0" indent="0">
              <a:buNone/>
            </a:pPr>
            <a:r>
              <a:rPr lang="en-US" sz="4000" b="1" dirty="0">
                <a:solidFill>
                  <a:schemeClr val="accent5"/>
                </a:solidFill>
              </a:rPr>
              <a:t>€ 89,888</a:t>
            </a:r>
            <a:endParaRPr lang="en-US" sz="4000" dirty="0"/>
          </a:p>
        </p:txBody>
      </p:sp>
      <p:sp>
        <p:nvSpPr>
          <p:cNvPr id="29" name="text-195"/>
          <p:cNvSpPr txBox="1"/>
          <p:nvPr/>
        </p:nvSpPr>
        <p:spPr>
          <a:xfrm>
            <a:off x="7086600" y="5120640"/>
            <a:ext cx="4297680" cy="320040"/>
          </a:xfrm>
          <a:prstGeom prst="rect">
            <a:avLst/>
          </a:prstGeom>
          <a:noFill/>
          <a:ln/>
        </p:spPr>
        <p:txBody>
          <a:bodyPr wrap="square" lIns="0" tIns="0" rIns="0" bIns="0" rtlCol="0" anchor="t"/>
          <a:lstStyle/>
          <a:p>
            <a:pPr marL="0" indent="0">
              <a:buNone/>
            </a:pPr>
            <a:r>
              <a:rPr lang="en-US" sz="1200" dirty="0">
                <a:solidFill>
                  <a:schemeClr val="bg2"/>
                </a:solidFill>
              </a:rPr>
              <a:t>correction on the benefit</a:t>
            </a:r>
            <a:endParaRPr lang="en-US" sz="1200" dirty="0"/>
          </a:p>
        </p:txBody>
      </p:sp>
      <p:sp>
        <p:nvSpPr>
          <p:cNvPr id="30" name="text-196"/>
          <p:cNvSpPr txBox="1"/>
          <p:nvPr/>
        </p:nvSpPr>
        <p:spPr>
          <a:xfrm>
            <a:off x="7086600" y="5486400"/>
            <a:ext cx="4297680" cy="457200"/>
          </a:xfrm>
          <a:prstGeom prst="rect">
            <a:avLst/>
          </a:prstGeom>
          <a:noFill/>
          <a:ln/>
        </p:spPr>
        <p:txBody>
          <a:bodyPr wrap="square" lIns="0" tIns="0" rIns="0" bIns="0" rtlCol="0" anchor="t"/>
          <a:lstStyle/>
          <a:p>
            <a:pPr marL="0" indent="0">
              <a:lnSpc>
                <a:spcPct val="105000"/>
              </a:lnSpc>
              <a:buNone/>
            </a:pPr>
            <a:r>
              <a:rPr lang="en-US" sz="1050" dirty="0">
                <a:solidFill>
                  <a:schemeClr val="bg2"/>
                </a:solidFill>
              </a:rPr>
              <a:t>RVO flagged a correction of more than 50% of the hours. Benefit kept: €12,280 of the €102,168 granted.</a:t>
            </a:r>
            <a:endParaRPr lang="en-US" sz="1050" dirty="0"/>
          </a:p>
        </p:txBody>
      </p:sp>
      <p:sp>
        <p:nvSpPr>
          <p:cNvPr id="31"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How we report now: evidence from Jira</a:t>
            </a:r>
            <a:endParaRPr lang="en-US" sz="3000" dirty="0"/>
          </a:p>
        </p:txBody>
      </p:sp>
      <p:sp>
        <p:nvSpPr>
          <p:cNvPr id="3" name="card-197"/>
          <p:cNvSpPr/>
          <p:nvPr/>
        </p:nvSpPr>
        <p:spPr>
          <a:xfrm>
            <a:off x="548640" y="1325880"/>
            <a:ext cx="2103120" cy="242316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4" name="icon-bg-198"/>
          <p:cNvSpPr/>
          <p:nvPr/>
        </p:nvSpPr>
        <p:spPr>
          <a:xfrm>
            <a:off x="777240" y="1536192"/>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5" name="icon-199" descr="preencoded.png"/>
          <p:cNvPicPr>
            <a:picLocks noChangeAspect="1"/>
          </p:cNvPicPr>
          <p:nvPr/>
        </p:nvPicPr>
        <p:blipFill>
          <a:blip r:embed="rId3"/>
          <a:stretch>
            <a:fillRect/>
          </a:stretch>
        </p:blipFill>
        <p:spPr>
          <a:xfrm>
            <a:off x="908914" y="1667866"/>
            <a:ext cx="285293" cy="285293"/>
          </a:xfrm>
          <a:prstGeom prst="rect">
            <a:avLst/>
          </a:prstGeom>
        </p:spPr>
      </p:pic>
      <p:sp>
        <p:nvSpPr>
          <p:cNvPr id="6" name="text-200"/>
          <p:cNvSpPr txBox="1"/>
          <p:nvPr/>
        </p:nvSpPr>
        <p:spPr>
          <a:xfrm>
            <a:off x="2057400" y="1536192"/>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1</a:t>
            </a:r>
            <a:endParaRPr lang="en-US" sz="2600" dirty="0"/>
          </a:p>
        </p:txBody>
      </p:sp>
      <p:sp>
        <p:nvSpPr>
          <p:cNvPr id="7" name="text-201"/>
          <p:cNvSpPr txBox="1"/>
          <p:nvPr/>
        </p:nvSpPr>
        <p:spPr>
          <a:xfrm>
            <a:off x="777240" y="2194560"/>
            <a:ext cx="1691640" cy="320040"/>
          </a:xfrm>
          <a:prstGeom prst="rect">
            <a:avLst/>
          </a:prstGeom>
          <a:noFill/>
          <a:ln/>
        </p:spPr>
        <p:txBody>
          <a:bodyPr wrap="square" lIns="0" tIns="0" rIns="0" bIns="0" rtlCol="0" anchor="t"/>
          <a:lstStyle/>
          <a:p>
            <a:pPr marL="0" indent="0">
              <a:buNone/>
            </a:pPr>
            <a:r>
              <a:rPr lang="en-US" sz="1400" b="1" dirty="0">
                <a:solidFill>
                  <a:schemeClr val="tx2"/>
                </a:solidFill>
              </a:rPr>
              <a:t>Label</a:t>
            </a:r>
            <a:endParaRPr lang="en-US" sz="1400" dirty="0"/>
          </a:p>
        </p:txBody>
      </p:sp>
      <p:sp>
        <p:nvSpPr>
          <p:cNvPr id="8" name="text-202"/>
          <p:cNvSpPr txBox="1"/>
          <p:nvPr/>
        </p:nvSpPr>
        <p:spPr>
          <a:xfrm>
            <a:off x="777240" y="2542032"/>
            <a:ext cx="1691640" cy="118872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Issues in project VALCM carry the label wbso. 71 today. No label, no hours.</a:t>
            </a:r>
            <a:endParaRPr lang="en-US" sz="1100" dirty="0"/>
          </a:p>
        </p:txBody>
      </p:sp>
      <p:sp>
        <p:nvSpPr>
          <p:cNvPr id="9" name="card-203"/>
          <p:cNvSpPr/>
          <p:nvPr/>
        </p:nvSpPr>
        <p:spPr>
          <a:xfrm>
            <a:off x="2834640" y="1325880"/>
            <a:ext cx="2103120" cy="242316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10" name="icon-bg-204"/>
          <p:cNvSpPr/>
          <p:nvPr/>
        </p:nvSpPr>
        <p:spPr>
          <a:xfrm>
            <a:off x="3063240" y="1536192"/>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1" name="icon-205" descr="preencoded.png"/>
          <p:cNvPicPr>
            <a:picLocks noChangeAspect="1"/>
          </p:cNvPicPr>
          <p:nvPr/>
        </p:nvPicPr>
        <p:blipFill>
          <a:blip r:embed="rId4"/>
          <a:stretch>
            <a:fillRect/>
          </a:stretch>
        </p:blipFill>
        <p:spPr>
          <a:xfrm>
            <a:off x="3194914" y="1667866"/>
            <a:ext cx="285293" cy="285293"/>
          </a:xfrm>
          <a:prstGeom prst="rect">
            <a:avLst/>
          </a:prstGeom>
        </p:spPr>
      </p:pic>
      <p:sp>
        <p:nvSpPr>
          <p:cNvPr id="12" name="text-206"/>
          <p:cNvSpPr txBox="1"/>
          <p:nvPr/>
        </p:nvSpPr>
        <p:spPr>
          <a:xfrm>
            <a:off x="4343400" y="1536192"/>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2</a:t>
            </a:r>
            <a:endParaRPr lang="en-US" sz="2600" dirty="0"/>
          </a:p>
        </p:txBody>
      </p:sp>
      <p:sp>
        <p:nvSpPr>
          <p:cNvPr id="13" name="text-207"/>
          <p:cNvSpPr txBox="1"/>
          <p:nvPr/>
        </p:nvSpPr>
        <p:spPr>
          <a:xfrm>
            <a:off x="3063240" y="2194560"/>
            <a:ext cx="1691640" cy="320040"/>
          </a:xfrm>
          <a:prstGeom prst="rect">
            <a:avLst/>
          </a:prstGeom>
          <a:noFill/>
          <a:ln/>
        </p:spPr>
        <p:txBody>
          <a:bodyPr wrap="square" lIns="0" tIns="0" rIns="0" bIns="0" rtlCol="0" anchor="t"/>
          <a:lstStyle/>
          <a:p>
            <a:pPr marL="0" indent="0">
              <a:buNone/>
            </a:pPr>
            <a:r>
              <a:rPr lang="en-US" sz="1400" b="1" dirty="0">
                <a:solidFill>
                  <a:schemeClr val="tx2"/>
                </a:solidFill>
              </a:rPr>
              <a:t>Changelog</a:t>
            </a:r>
            <a:endParaRPr lang="en-US" sz="1400" dirty="0"/>
          </a:p>
        </p:txBody>
      </p:sp>
      <p:sp>
        <p:nvSpPr>
          <p:cNvPr id="14" name="text-208"/>
          <p:cNvSpPr txBox="1"/>
          <p:nvPr/>
        </p:nvSpPr>
        <p:spPr>
          <a:xfrm>
            <a:off x="3063240" y="2542032"/>
            <a:ext cx="1691640" cy="118872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The tool reads every status and assignee change with its timestamp: who held the ticket, in which state, when.</a:t>
            </a:r>
            <a:endParaRPr lang="en-US" sz="1100" dirty="0"/>
          </a:p>
        </p:txBody>
      </p:sp>
      <p:sp>
        <p:nvSpPr>
          <p:cNvPr id="15" name="card-209"/>
          <p:cNvSpPr/>
          <p:nvPr/>
        </p:nvSpPr>
        <p:spPr>
          <a:xfrm>
            <a:off x="5120640" y="1325880"/>
            <a:ext cx="2103120" cy="242316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16" name="icon-bg-210"/>
          <p:cNvSpPr/>
          <p:nvPr/>
        </p:nvSpPr>
        <p:spPr>
          <a:xfrm>
            <a:off x="5349240" y="1536192"/>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7" name="icon-211" descr="preencoded.png"/>
          <p:cNvPicPr>
            <a:picLocks noChangeAspect="1"/>
          </p:cNvPicPr>
          <p:nvPr/>
        </p:nvPicPr>
        <p:blipFill>
          <a:blip r:embed="rId5"/>
          <a:stretch>
            <a:fillRect/>
          </a:stretch>
        </p:blipFill>
        <p:spPr>
          <a:xfrm>
            <a:off x="5480914" y="1667866"/>
            <a:ext cx="285293" cy="285293"/>
          </a:xfrm>
          <a:prstGeom prst="rect">
            <a:avLst/>
          </a:prstGeom>
        </p:spPr>
      </p:pic>
      <p:sp>
        <p:nvSpPr>
          <p:cNvPr id="18" name="text-212"/>
          <p:cNvSpPr txBox="1"/>
          <p:nvPr/>
        </p:nvSpPr>
        <p:spPr>
          <a:xfrm>
            <a:off x="6629400" y="1536192"/>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3</a:t>
            </a:r>
            <a:endParaRPr lang="en-US" sz="2600" dirty="0"/>
          </a:p>
        </p:txBody>
      </p:sp>
      <p:sp>
        <p:nvSpPr>
          <p:cNvPr id="19" name="text-213"/>
          <p:cNvSpPr txBox="1"/>
          <p:nvPr/>
        </p:nvSpPr>
        <p:spPr>
          <a:xfrm>
            <a:off x="5349240" y="2194560"/>
            <a:ext cx="1691640" cy="320040"/>
          </a:xfrm>
          <a:prstGeom prst="rect">
            <a:avLst/>
          </a:prstGeom>
          <a:noFill/>
          <a:ln/>
        </p:spPr>
        <p:txBody>
          <a:bodyPr wrap="square" lIns="0" tIns="0" rIns="0" bIns="0" rtlCol="0" anchor="t"/>
          <a:lstStyle/>
          <a:p>
            <a:pPr marL="0" indent="0">
              <a:buNone/>
            </a:pPr>
            <a:r>
              <a:rPr lang="en-US" sz="1400" b="1" dirty="0">
                <a:solidFill>
                  <a:schemeClr val="tx2"/>
                </a:solidFill>
              </a:rPr>
              <a:t>Estimate</a:t>
            </a:r>
            <a:endParaRPr lang="en-US" sz="1400" dirty="0"/>
          </a:p>
        </p:txBody>
      </p:sp>
      <p:sp>
        <p:nvSpPr>
          <p:cNvPr id="20" name="text-214"/>
          <p:cNvSpPr txBox="1"/>
          <p:nvPr/>
        </p:nvSpPr>
        <p:spPr>
          <a:xfrm>
            <a:off x="5349240" y="2542032"/>
            <a:ext cx="1691640" cy="118872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DEV and QA story points, 1 point = 4 hours. The total field only when both are empty. No points, no hours.</a:t>
            </a:r>
            <a:endParaRPr lang="en-US" sz="1100" dirty="0"/>
          </a:p>
        </p:txBody>
      </p:sp>
      <p:sp>
        <p:nvSpPr>
          <p:cNvPr id="21" name="card-215"/>
          <p:cNvSpPr/>
          <p:nvPr/>
        </p:nvSpPr>
        <p:spPr>
          <a:xfrm>
            <a:off x="7406640" y="1325880"/>
            <a:ext cx="2103120" cy="242316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22" name="icon-bg-216"/>
          <p:cNvSpPr/>
          <p:nvPr/>
        </p:nvSpPr>
        <p:spPr>
          <a:xfrm>
            <a:off x="7635240" y="1536192"/>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23" name="icon-217" descr="preencoded.png"/>
          <p:cNvPicPr>
            <a:picLocks noChangeAspect="1"/>
          </p:cNvPicPr>
          <p:nvPr/>
        </p:nvPicPr>
        <p:blipFill>
          <a:blip r:embed="rId6"/>
          <a:stretch>
            <a:fillRect/>
          </a:stretch>
        </p:blipFill>
        <p:spPr>
          <a:xfrm>
            <a:off x="7766914" y="1667866"/>
            <a:ext cx="285293" cy="285293"/>
          </a:xfrm>
          <a:prstGeom prst="rect">
            <a:avLst/>
          </a:prstGeom>
        </p:spPr>
      </p:pic>
      <p:sp>
        <p:nvSpPr>
          <p:cNvPr id="24" name="text-218"/>
          <p:cNvSpPr txBox="1"/>
          <p:nvPr/>
        </p:nvSpPr>
        <p:spPr>
          <a:xfrm>
            <a:off x="8915400" y="1536192"/>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4</a:t>
            </a:r>
            <a:endParaRPr lang="en-US" sz="2600" dirty="0"/>
          </a:p>
        </p:txBody>
      </p:sp>
      <p:sp>
        <p:nvSpPr>
          <p:cNvPr id="25" name="text-219"/>
          <p:cNvSpPr txBox="1"/>
          <p:nvPr/>
        </p:nvSpPr>
        <p:spPr>
          <a:xfrm>
            <a:off x="7635240" y="2194560"/>
            <a:ext cx="1691640" cy="320040"/>
          </a:xfrm>
          <a:prstGeom prst="rect">
            <a:avLst/>
          </a:prstGeom>
          <a:noFill/>
          <a:ln/>
        </p:spPr>
        <p:txBody>
          <a:bodyPr wrap="square" lIns="0" tIns="0" rIns="0" bIns="0" rtlCol="0" anchor="t"/>
          <a:lstStyle/>
          <a:p>
            <a:pPr marL="0" indent="0">
              <a:buNone/>
            </a:pPr>
            <a:r>
              <a:rPr lang="en-US" sz="1400" b="1" dirty="0">
                <a:solidFill>
                  <a:schemeClr val="tx2"/>
                </a:solidFill>
              </a:rPr>
              <a:t>Allocate</a:t>
            </a:r>
            <a:endParaRPr lang="en-US" sz="1400" dirty="0"/>
          </a:p>
        </p:txBody>
      </p:sp>
      <p:sp>
        <p:nvSpPr>
          <p:cNvPr id="26" name="text-220"/>
          <p:cNvSpPr txBox="1"/>
          <p:nvPr/>
        </p:nvSpPr>
        <p:spPr>
          <a:xfrm>
            <a:off x="7635240" y="2542032"/>
            <a:ext cx="1691640" cy="118872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Hours go to whoever held the ticket in a DEV or QA status, in proportion to time held, inside the reported month.</a:t>
            </a:r>
            <a:endParaRPr lang="en-US" sz="1100" dirty="0"/>
          </a:p>
        </p:txBody>
      </p:sp>
      <p:sp>
        <p:nvSpPr>
          <p:cNvPr id="27" name="card-221"/>
          <p:cNvSpPr/>
          <p:nvPr/>
        </p:nvSpPr>
        <p:spPr>
          <a:xfrm>
            <a:off x="9692640" y="1325880"/>
            <a:ext cx="2103120" cy="2423160"/>
          </a:xfrm>
          <a:prstGeom prst="roundRect">
            <a:avLst>
              <a:gd name="adj" fmla="val 4348"/>
            </a:avLst>
          </a:prstGeom>
          <a:solidFill>
            <a:schemeClr val="bg2"/>
          </a:solidFill>
          <a:ln w="12700">
            <a:solidFill>
              <a:schemeClr val="bg2"/>
            </a:solidFill>
            <a:prstDash val="solid"/>
          </a:ln>
        </p:spPr>
        <p:txBody>
          <a:bodyPr/>
          <a:lstStyle/>
          <a:p>
            <a:endParaRPr lang="en-US"/>
          </a:p>
        </p:txBody>
      </p:sp>
      <p:sp>
        <p:nvSpPr>
          <p:cNvPr id="28" name="icon-bg-222"/>
          <p:cNvSpPr/>
          <p:nvPr/>
        </p:nvSpPr>
        <p:spPr>
          <a:xfrm>
            <a:off x="9921240" y="1536192"/>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29" name="icon-223" descr="preencoded.png"/>
          <p:cNvPicPr>
            <a:picLocks noChangeAspect="1"/>
          </p:cNvPicPr>
          <p:nvPr/>
        </p:nvPicPr>
        <p:blipFill>
          <a:blip r:embed="rId7"/>
          <a:stretch>
            <a:fillRect/>
          </a:stretch>
        </p:blipFill>
        <p:spPr>
          <a:xfrm>
            <a:off x="10052914" y="1667866"/>
            <a:ext cx="285293" cy="285293"/>
          </a:xfrm>
          <a:prstGeom prst="rect">
            <a:avLst/>
          </a:prstGeom>
        </p:spPr>
      </p:pic>
      <p:sp>
        <p:nvSpPr>
          <p:cNvPr id="30" name="text-224"/>
          <p:cNvSpPr txBox="1"/>
          <p:nvPr/>
        </p:nvSpPr>
        <p:spPr>
          <a:xfrm>
            <a:off x="11201400" y="1536192"/>
            <a:ext cx="411480" cy="548640"/>
          </a:xfrm>
          <a:prstGeom prst="rect">
            <a:avLst/>
          </a:prstGeom>
          <a:noFill/>
          <a:ln/>
        </p:spPr>
        <p:txBody>
          <a:bodyPr wrap="square" lIns="0" tIns="0" rIns="0" bIns="0" rtlCol="0" anchor="ctr"/>
          <a:lstStyle/>
          <a:p>
            <a:pPr marL="0" indent="0" algn="r">
              <a:buNone/>
            </a:pPr>
            <a:r>
              <a:rPr lang="en-US" sz="2600" b="1" dirty="0">
                <a:solidFill>
                  <a:schemeClr val="accent2"/>
                </a:solidFill>
              </a:rPr>
              <a:t>5</a:t>
            </a:r>
            <a:endParaRPr lang="en-US" sz="2600" dirty="0"/>
          </a:p>
        </p:txBody>
      </p:sp>
      <p:sp>
        <p:nvSpPr>
          <p:cNvPr id="31" name="text-225"/>
          <p:cNvSpPr txBox="1"/>
          <p:nvPr/>
        </p:nvSpPr>
        <p:spPr>
          <a:xfrm>
            <a:off x="9921240" y="2194560"/>
            <a:ext cx="1691640" cy="320040"/>
          </a:xfrm>
          <a:prstGeom prst="rect">
            <a:avLst/>
          </a:prstGeom>
          <a:noFill/>
          <a:ln/>
        </p:spPr>
        <p:txBody>
          <a:bodyPr wrap="square" lIns="0" tIns="0" rIns="0" bIns="0" rtlCol="0" anchor="t"/>
          <a:lstStyle/>
          <a:p>
            <a:pPr marL="0" indent="0">
              <a:buNone/>
            </a:pPr>
            <a:r>
              <a:rPr lang="en-US" sz="1400" b="1" dirty="0">
                <a:solidFill>
                  <a:schemeClr val="tx2"/>
                </a:solidFill>
              </a:rPr>
              <a:t>Workbook</a:t>
            </a:r>
            <a:endParaRPr lang="en-US" sz="1400" dirty="0"/>
          </a:p>
        </p:txBody>
      </p:sp>
      <p:sp>
        <p:nvSpPr>
          <p:cNvPr id="32" name="text-226"/>
          <p:cNvSpPr txBox="1"/>
          <p:nvPr/>
        </p:nvSpPr>
        <p:spPr>
          <a:xfrm>
            <a:off x="9921240" y="2542032"/>
            <a:ext cx="1691640" cy="1188720"/>
          </a:xfrm>
          <a:prstGeom prst="rect">
            <a:avLst/>
          </a:prstGeom>
          <a:noFill/>
          <a:ln/>
        </p:spPr>
        <p:txBody>
          <a:bodyPr wrap="square" lIns="0" tIns="0" rIns="0" bIns="0" rtlCol="0" anchor="t"/>
          <a:lstStyle/>
          <a:p>
            <a:pPr marL="0" indent="0">
              <a:lnSpc>
                <a:spcPct val="110000"/>
              </a:lnSpc>
              <a:buNone/>
            </a:pPr>
            <a:r>
              <a:rPr lang="en-US" sz="1100" dirty="0">
                <a:solidFill>
                  <a:schemeClr val="tx1"/>
                </a:solidFill>
              </a:rPr>
              <a:t>One .xlsx per month: Summary, Detail, Issues, StatusAudit and a Notes tab written for the auditor.</a:t>
            </a:r>
            <a:endParaRPr lang="en-US" sz="1100" dirty="0"/>
          </a:p>
        </p:txBody>
      </p:sp>
      <p:graphicFrame>
        <p:nvGraphicFramePr>
          <p:cNvPr id="33" name="table-227"/>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2048256"/>
        </p:xfrm>
        <a:graphic>
          <a:graphicData uri="http://schemas.openxmlformats.org/drawingml/2006/table">
            <a:tbl>
              <a:tblPr/>
              <a:tblGrid>
                <a:gridCol w="14630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29184">
                <a:tc>
                  <a:txBody>
                    <a:bodyPr/>
                    <a:lstStyle/>
                    <a:p>
                      <a:pPr marL="0" indent="0">
                        <a:buNone/>
                      </a:pPr>
                      <a:endParaRPr lang="en-US" sz="115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E3F4D"/>
                    </a:solidFill>
                  </a:tcPr>
                </a:tc>
                <a:tc>
                  <a:txBody>
                    <a:bodyPr/>
                    <a:lstStyle/>
                    <a:p>
                      <a:pPr marL="0" indent="0">
                        <a:buNone/>
                      </a:pPr>
                      <a:r>
                        <a:rPr lang="en-US" sz="1150" b="1" dirty="0">
                          <a:solidFill>
                            <a:srgbClr val="FFFFFF"/>
                          </a:solidFill>
                        </a:rPr>
                        <a:t>Then: manual timesheets</a:t>
                      </a:r>
                      <a:endParaRPr lang="en-US" sz="115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E3F4D"/>
                    </a:solidFill>
                  </a:tcPr>
                </a:tc>
                <a:tc>
                  <a:txBody>
                    <a:bodyPr/>
                    <a:lstStyle/>
                    <a:p>
                      <a:pPr marL="0" indent="0">
                        <a:buNone/>
                      </a:pPr>
                      <a:r>
                        <a:rPr lang="en-US" sz="1150" b="1" dirty="0">
                          <a:solidFill>
                            <a:srgbClr val="FFFFFF"/>
                          </a:solidFill>
                        </a:rPr>
                        <a:t>Now: evidence from Jira</a:t>
                      </a:r>
                      <a:endParaRPr lang="en-US" sz="115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E3F4D"/>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0E3F4D"/>
                          </a:solidFill>
                        </a:rPr>
                        <a:t>Input</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5F6"/>
                    </a:solidFill>
                  </a:tcPr>
                </a:tc>
                <a:tc>
                  <a:txBody>
                    <a:bodyPr/>
                    <a:lstStyle/>
                    <a:p>
                      <a:pPr marL="0" indent="0">
                        <a:buNone/>
                      </a:pPr>
                      <a:r>
                        <a:rPr lang="en-US" sz="1100" dirty="0">
                          <a:solidFill>
                            <a:srgbClr val="1D1D1B"/>
                          </a:solidFill>
                        </a:rPr>
                        <a:t>Nine personal spreadsheets, filled from memory</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indent="0">
                        <a:buNone/>
                      </a:pPr>
                      <a:r>
                        <a:rPr lang="en-US" sz="1100" dirty="0">
                          <a:solidFill>
                            <a:srgbClr val="1D1D1B"/>
                          </a:solidFill>
                        </a:rPr>
                        <a:t>Jira, which the team already maintains every day</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0E3F4D"/>
                          </a:solidFill>
                        </a:rPr>
                        <a:t>Effort</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5F6"/>
                    </a:solidFill>
                  </a:tcPr>
                </a:tc>
                <a:tc>
                  <a:txBody>
                    <a:bodyPr/>
                    <a:lstStyle/>
                    <a:p>
                      <a:pPr marL="0" indent="0">
                        <a:buNone/>
                      </a:pPr>
                      <a:r>
                        <a:rPr lang="en-US" sz="1100" dirty="0">
                          <a:solidFill>
                            <a:srgbClr val="1D1D1B"/>
                          </a:solidFill>
                        </a:rPr>
                        <a:t>Weeks of chasing people at year end</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indent="0">
                        <a:buNone/>
                      </a:pPr>
                      <a:r>
                        <a:rPr lang="en-US" sz="1100" dirty="0">
                          <a:solidFill>
                            <a:srgbClr val="1D1D1B"/>
                          </a:solidFill>
                        </a:rPr>
                        <a:t>One command per month, about a minute</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100" b="1" dirty="0">
                          <a:solidFill>
                            <a:srgbClr val="0E3F4D"/>
                          </a:solidFill>
                        </a:rPr>
                        <a:t>Evidence</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5F6"/>
                    </a:solidFill>
                  </a:tcPr>
                </a:tc>
                <a:tc>
                  <a:txBody>
                    <a:bodyPr/>
                    <a:lstStyle/>
                    <a:p>
                      <a:pPr marL="0" indent="0">
                        <a:buNone/>
                      </a:pPr>
                      <a:r>
                        <a:rPr lang="en-US" sz="1100" dirty="0">
                          <a:solidFill>
                            <a:srgbClr val="1D1D1B"/>
                          </a:solidFill>
                        </a:rPr>
                        <a:t>Self-declared numbers</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indent="0">
                        <a:buNone/>
                      </a:pPr>
                      <a:r>
                        <a:rPr lang="en-US" sz="1100" dirty="0">
                          <a:solidFill>
                            <a:srgbClr val="1D1D1B"/>
                          </a:solidFill>
                        </a:rPr>
                        <a:t>Timestamps in the changelog; every figure traces to issue, person, month and phase</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100" b="1" dirty="0">
                          <a:solidFill>
                            <a:srgbClr val="0E3F4D"/>
                          </a:solidFill>
                        </a:rPr>
                        <a:t>Consistency</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5F6"/>
                    </a:solidFill>
                  </a:tcPr>
                </a:tc>
                <a:tc>
                  <a:txBody>
                    <a:bodyPr/>
                    <a:lstStyle/>
                    <a:p>
                      <a:pPr marL="0" indent="0">
                        <a:buNone/>
                      </a:pPr>
                      <a:r>
                        <a:rPr lang="en-US" sz="1100" dirty="0">
                          <a:solidFill>
                            <a:srgbClr val="1D1D1B"/>
                          </a:solidFill>
                        </a:rPr>
                        <a:t>Gaps, late entries, double counting</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indent="0">
                        <a:buNone/>
                      </a:pPr>
                      <a:r>
                        <a:rPr lang="en-US" sz="1100" dirty="0">
                          <a:solidFill>
                            <a:srgbClr val="1D1D1B"/>
                          </a:solidFill>
                        </a:rPr>
                        <a:t>Months add up to each issue’s total; reproducible by anyone with Jira access</a:t>
                      </a:r>
                      <a:endParaRPr lang="en-US" sz="1100" dirty="0"/>
                    </a:p>
                  </a:txBody>
                  <a:tcPr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4"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Running the report: the monthly routine</a:t>
            </a:r>
            <a:endParaRPr lang="en-US" sz="3000" dirty="0"/>
          </a:p>
        </p:txBody>
      </p:sp>
      <p:sp>
        <p:nvSpPr>
          <p:cNvPr id="3" name="card-228"/>
          <p:cNvSpPr/>
          <p:nvPr/>
        </p:nvSpPr>
        <p:spPr>
          <a:xfrm>
            <a:off x="548640" y="1325880"/>
            <a:ext cx="6126480" cy="2514600"/>
          </a:xfrm>
          <a:prstGeom prst="roundRect">
            <a:avLst>
              <a:gd name="adj" fmla="val 3636"/>
            </a:avLst>
          </a:prstGeom>
          <a:solidFill>
            <a:schemeClr val="tx2"/>
          </a:solidFill>
          <a:ln w="12700">
            <a:solidFill>
              <a:schemeClr val="tx2"/>
            </a:solidFill>
            <a:prstDash val="solid"/>
          </a:ln>
        </p:spPr>
        <p:txBody>
          <a:bodyPr/>
          <a:lstStyle/>
          <a:p>
            <a:endParaRPr lang="en-US"/>
          </a:p>
        </p:txBody>
      </p:sp>
      <p:pic>
        <p:nvPicPr>
          <p:cNvPr id="4" name="icon-229" descr="preencoded.png"/>
          <p:cNvPicPr>
            <a:picLocks noChangeAspect="1"/>
          </p:cNvPicPr>
          <p:nvPr/>
        </p:nvPicPr>
        <p:blipFill>
          <a:blip r:embed="rId3"/>
          <a:stretch>
            <a:fillRect/>
          </a:stretch>
        </p:blipFill>
        <p:spPr>
          <a:xfrm>
            <a:off x="777240" y="1508760"/>
            <a:ext cx="274320" cy="274320"/>
          </a:xfrm>
          <a:prstGeom prst="rect">
            <a:avLst/>
          </a:prstGeom>
        </p:spPr>
      </p:pic>
      <p:sp>
        <p:nvSpPr>
          <p:cNvPr id="5" name="text-230"/>
          <p:cNvSpPr txBox="1"/>
          <p:nvPr/>
        </p:nvSpPr>
        <p:spPr>
          <a:xfrm>
            <a:off x="1143000" y="1490472"/>
            <a:ext cx="4572000" cy="292608"/>
          </a:xfrm>
          <a:prstGeom prst="rect">
            <a:avLst/>
          </a:prstGeom>
          <a:noFill/>
          <a:ln/>
        </p:spPr>
        <p:txBody>
          <a:bodyPr wrap="square" lIns="0" tIns="0" rIns="0" bIns="0" rtlCol="0" anchor="ctr"/>
          <a:lstStyle/>
          <a:p>
            <a:pPr marL="0" indent="0">
              <a:buNone/>
            </a:pPr>
            <a:r>
              <a:rPr lang="en-US" sz="1100" b="1" dirty="0">
                <a:solidFill>
                  <a:schemeClr val="accent2"/>
                </a:solidFill>
              </a:rPr>
              <a:t>reporting-utils / wbso</a:t>
            </a:r>
            <a:endParaRPr lang="en-US" sz="1100" dirty="0"/>
          </a:p>
        </p:txBody>
      </p:sp>
      <p:sp>
        <p:nvSpPr>
          <p:cNvPr id="6" name="text-231"/>
          <p:cNvSpPr txBox="1"/>
          <p:nvPr/>
        </p:nvSpPr>
        <p:spPr>
          <a:xfrm>
            <a:off x="777240" y="1874520"/>
            <a:ext cx="5669280" cy="187452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javac WbsoHours.java</a:t>
            </a:r>
            <a:endParaRPr lang="en-US" sz="1200" dirty="0"/>
          </a:p>
          <a:p>
            <a:pPr marL="0" indent="0">
              <a:lnSpc>
                <a:spcPct val="115000"/>
              </a:lnSpc>
              <a:buNone/>
            </a:pPr>
            <a:r>
              <a:rPr lang="en-US" sz="1200" dirty="0">
                <a:solidFill>
                  <a:srgbClr val="50C8E8"/>
                </a:solidFill>
                <a:latin typeface="Courier New" pitchFamily="34" charset="0"/>
                <a:ea typeface="Courier New" pitchFamily="34" charset="-122"/>
                <a:cs typeface="Courier New" pitchFamily="34" charset="-120"/>
              </a:rPr>
              <a:t># once, JDK 11 or newer</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export JIRA_EMAIL="you@skycell.com"</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export JIRA_API_TOKEN="..."</a:t>
            </a:r>
            <a:endParaRPr lang="en-US" sz="1200" dirty="0"/>
          </a:p>
          <a:p>
            <a:pPr marL="0" indent="0">
              <a:lnSpc>
                <a:spcPct val="115000"/>
              </a:lnSpc>
              <a:buNone/>
            </a:pPr>
            <a:r>
              <a:rPr lang="en-US" sz="1200" dirty="0">
                <a:solidFill>
                  <a:srgbClr val="50C8E8"/>
                </a:solidFill>
                <a:latin typeface="Courier New" pitchFamily="34" charset="0"/>
                <a:ea typeface="Courier New" pitchFamily="34" charset="-122"/>
                <a:cs typeface="Courier New" pitchFamily="34" charset="-120"/>
              </a:rPr>
              <a:t># id.atlassian.com &gt; Security &gt; API tokens</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java WbsoHours --month 2026-09 \</a:t>
            </a:r>
            <a:endParaRPr lang="en-US" sz="1200" dirty="0"/>
          </a:p>
          <a:p>
            <a:pPr marL="0" indent="0">
              <a:lnSpc>
                <a:spcPct val="115000"/>
              </a:lnSpc>
              <a:buNone/>
            </a:pPr>
            <a:r>
              <a:rPr lang="en-US" sz="1200" dirty="0">
                <a:solidFill>
                  <a:srgbClr val="FFFFFF"/>
                </a:solidFill>
                <a:latin typeface="Courier New" pitchFamily="34" charset="0"/>
                <a:ea typeface="Courier New" pitchFamily="34" charset="-122"/>
                <a:cs typeface="Courier New" pitchFamily="34" charset="-120"/>
              </a:rPr>
              <a:t>     --out reports/wbso_2026-09.xlsx</a:t>
            </a:r>
            <a:endParaRPr lang="en-US" sz="1200" dirty="0"/>
          </a:p>
        </p:txBody>
      </p:sp>
      <p:sp>
        <p:nvSpPr>
          <p:cNvPr id="7" name="icon-bg-232"/>
          <p:cNvSpPr/>
          <p:nvPr/>
        </p:nvSpPr>
        <p:spPr>
          <a:xfrm>
            <a:off x="548640" y="4069080"/>
            <a:ext cx="411480" cy="411480"/>
          </a:xfrm>
          <a:prstGeom prst="ellipse">
            <a:avLst/>
          </a:prstGeom>
          <a:solidFill>
            <a:schemeClr val="accent3"/>
          </a:solidFill>
          <a:ln w="12700">
            <a:solidFill>
              <a:schemeClr val="accent3"/>
            </a:solidFill>
            <a:prstDash val="solid"/>
          </a:ln>
        </p:spPr>
        <p:txBody>
          <a:bodyPr/>
          <a:lstStyle/>
          <a:p>
            <a:endParaRPr lang="en-US"/>
          </a:p>
        </p:txBody>
      </p:sp>
      <p:pic>
        <p:nvPicPr>
          <p:cNvPr id="8" name="icon-233" descr="preencoded.png"/>
          <p:cNvPicPr>
            <a:picLocks noChangeAspect="1"/>
          </p:cNvPicPr>
          <p:nvPr/>
        </p:nvPicPr>
        <p:blipFill>
          <a:blip r:embed="rId4"/>
          <a:stretch>
            <a:fillRect/>
          </a:stretch>
        </p:blipFill>
        <p:spPr>
          <a:xfrm>
            <a:off x="647395" y="4167835"/>
            <a:ext cx="213970" cy="213970"/>
          </a:xfrm>
          <a:prstGeom prst="rect">
            <a:avLst/>
          </a:prstGeom>
        </p:spPr>
      </p:pic>
      <p:sp>
        <p:nvSpPr>
          <p:cNvPr id="9" name="text-234"/>
          <p:cNvSpPr txBox="1"/>
          <p:nvPr/>
        </p:nvSpPr>
        <p:spPr>
          <a:xfrm>
            <a:off x="1143000" y="4023360"/>
            <a:ext cx="5532120" cy="548640"/>
          </a:xfrm>
          <a:prstGeom prst="rect">
            <a:avLst/>
          </a:prstGeom>
          <a:noFill/>
          <a:ln/>
        </p:spPr>
        <p:txBody>
          <a:bodyPr wrap="square" lIns="0" tIns="0" rIns="0" bIns="0" rtlCol="0" anchor="ctr"/>
          <a:lstStyle/>
          <a:p>
            <a:pPr marL="0" indent="0">
              <a:lnSpc>
                <a:spcPct val="108000"/>
              </a:lnSpc>
              <a:buNone/>
            </a:pPr>
            <a:r>
              <a:rPr lang="en-US" sz="1150" dirty="0">
                <a:solidFill>
                  <a:schemeClr val="tx1"/>
                </a:solidFill>
              </a:rPr>
              <a:t>Defaults: --project VALCM, --label wbso, --base https://skycell.atlassian.net. Run it once per month; earlier months can be backfilled any time.</a:t>
            </a:r>
            <a:endParaRPr lang="en-US" sz="1150" dirty="0"/>
          </a:p>
        </p:txBody>
      </p:sp>
      <p:sp>
        <p:nvSpPr>
          <p:cNvPr id="10" name="icon-bg-235"/>
          <p:cNvSpPr/>
          <p:nvPr/>
        </p:nvSpPr>
        <p:spPr>
          <a:xfrm>
            <a:off x="548640" y="4754880"/>
            <a:ext cx="411480" cy="411480"/>
          </a:xfrm>
          <a:prstGeom prst="ellipse">
            <a:avLst/>
          </a:prstGeom>
          <a:solidFill>
            <a:schemeClr val="accent3"/>
          </a:solidFill>
          <a:ln w="12700">
            <a:solidFill>
              <a:schemeClr val="accent3"/>
            </a:solidFill>
            <a:prstDash val="solid"/>
          </a:ln>
        </p:spPr>
        <p:txBody>
          <a:bodyPr/>
          <a:lstStyle/>
          <a:p>
            <a:endParaRPr lang="en-US"/>
          </a:p>
        </p:txBody>
      </p:sp>
      <p:pic>
        <p:nvPicPr>
          <p:cNvPr id="11" name="icon-236" descr="preencoded.png"/>
          <p:cNvPicPr>
            <a:picLocks noChangeAspect="1"/>
          </p:cNvPicPr>
          <p:nvPr/>
        </p:nvPicPr>
        <p:blipFill>
          <a:blip r:embed="rId5"/>
          <a:stretch>
            <a:fillRect/>
          </a:stretch>
        </p:blipFill>
        <p:spPr>
          <a:xfrm>
            <a:off x="647395" y="4853635"/>
            <a:ext cx="213970" cy="213970"/>
          </a:xfrm>
          <a:prstGeom prst="rect">
            <a:avLst/>
          </a:prstGeom>
        </p:spPr>
      </p:pic>
      <p:sp>
        <p:nvSpPr>
          <p:cNvPr id="12" name="text-237"/>
          <p:cNvSpPr txBox="1"/>
          <p:nvPr/>
        </p:nvSpPr>
        <p:spPr>
          <a:xfrm>
            <a:off x="1143000" y="4709160"/>
            <a:ext cx="5532120" cy="548640"/>
          </a:xfrm>
          <a:prstGeom prst="rect">
            <a:avLst/>
          </a:prstGeom>
          <a:noFill/>
          <a:ln/>
        </p:spPr>
        <p:txBody>
          <a:bodyPr wrap="square" lIns="0" tIns="0" rIns="0" bIns="0" rtlCol="0" anchor="ctr"/>
          <a:lstStyle/>
          <a:p>
            <a:pPr marL="0" indent="0">
              <a:lnSpc>
                <a:spcPct val="108000"/>
              </a:lnSpc>
              <a:buNone/>
            </a:pPr>
            <a:r>
              <a:rPr lang="en-US" sz="1150" dirty="0">
                <a:solidFill>
                  <a:schemeClr val="tx1"/>
                </a:solidFill>
              </a:rPr>
              <a:t>The token lives only in your shell. Nothing is written to disk or into the workbook.</a:t>
            </a:r>
            <a:endParaRPr lang="en-US" sz="1150" dirty="0"/>
          </a:p>
        </p:txBody>
      </p:sp>
      <p:sp>
        <p:nvSpPr>
          <p:cNvPr id="13" name="icon-bg-238"/>
          <p:cNvSpPr/>
          <p:nvPr/>
        </p:nvSpPr>
        <p:spPr>
          <a:xfrm>
            <a:off x="548640" y="5440680"/>
            <a:ext cx="411480" cy="411480"/>
          </a:xfrm>
          <a:prstGeom prst="ellipse">
            <a:avLst/>
          </a:prstGeom>
          <a:solidFill>
            <a:schemeClr val="accent3"/>
          </a:solidFill>
          <a:ln w="12700">
            <a:solidFill>
              <a:schemeClr val="accent3"/>
            </a:solidFill>
            <a:prstDash val="solid"/>
          </a:ln>
        </p:spPr>
        <p:txBody>
          <a:bodyPr/>
          <a:lstStyle/>
          <a:p>
            <a:endParaRPr lang="en-US"/>
          </a:p>
        </p:txBody>
      </p:sp>
      <p:pic>
        <p:nvPicPr>
          <p:cNvPr id="14" name="icon-239" descr="preencoded.png"/>
          <p:cNvPicPr>
            <a:picLocks noChangeAspect="1"/>
          </p:cNvPicPr>
          <p:nvPr/>
        </p:nvPicPr>
        <p:blipFill>
          <a:blip r:embed="rId6"/>
          <a:stretch>
            <a:fillRect/>
          </a:stretch>
        </p:blipFill>
        <p:spPr>
          <a:xfrm>
            <a:off x="647395" y="5539435"/>
            <a:ext cx="213970" cy="213970"/>
          </a:xfrm>
          <a:prstGeom prst="rect">
            <a:avLst/>
          </a:prstGeom>
        </p:spPr>
      </p:pic>
      <p:sp>
        <p:nvSpPr>
          <p:cNvPr id="15" name="text-240"/>
          <p:cNvSpPr txBox="1"/>
          <p:nvPr/>
        </p:nvSpPr>
        <p:spPr>
          <a:xfrm>
            <a:off x="1143000" y="5394960"/>
            <a:ext cx="5532120" cy="548640"/>
          </a:xfrm>
          <a:prstGeom prst="rect">
            <a:avLst/>
          </a:prstGeom>
          <a:noFill/>
          <a:ln/>
        </p:spPr>
        <p:txBody>
          <a:bodyPr wrap="square" lIns="0" tIns="0" rIns="0" bIns="0" rtlCol="0" anchor="ctr"/>
          <a:lstStyle/>
          <a:p>
            <a:pPr marL="0" indent="0">
              <a:lnSpc>
                <a:spcPct val="108000"/>
              </a:lnSpc>
              <a:buNone/>
            </a:pPr>
            <a:r>
              <a:rPr lang="en-US" sz="1150" dirty="0">
                <a:solidFill>
                  <a:schemeClr val="tx1"/>
                </a:solidFill>
              </a:rPr>
              <a:t>--selftest runs on synthetic data without touching Jira: use it to check a new machine.</a:t>
            </a:r>
            <a:endParaRPr lang="en-US" sz="1150" dirty="0"/>
          </a:p>
        </p:txBody>
      </p:sp>
      <p:sp>
        <p:nvSpPr>
          <p:cNvPr id="16" name="card-241"/>
          <p:cNvSpPr/>
          <p:nvPr/>
        </p:nvSpPr>
        <p:spPr>
          <a:xfrm>
            <a:off x="6949440" y="1325880"/>
            <a:ext cx="4709160" cy="4754880"/>
          </a:xfrm>
          <a:prstGeom prst="roundRect">
            <a:avLst>
              <a:gd name="adj" fmla="val 1942"/>
            </a:avLst>
          </a:prstGeom>
          <a:solidFill>
            <a:schemeClr val="bg2"/>
          </a:solidFill>
          <a:ln w="12700">
            <a:solidFill>
              <a:schemeClr val="bg2"/>
            </a:solidFill>
            <a:prstDash val="solid"/>
          </a:ln>
        </p:spPr>
        <p:txBody>
          <a:bodyPr/>
          <a:lstStyle/>
          <a:p>
            <a:endParaRPr lang="en-US"/>
          </a:p>
        </p:txBody>
      </p:sp>
      <p:sp>
        <p:nvSpPr>
          <p:cNvPr id="17" name="text-242"/>
          <p:cNvSpPr txBox="1"/>
          <p:nvPr/>
        </p:nvSpPr>
        <p:spPr>
          <a:xfrm>
            <a:off x="7223760" y="1508760"/>
            <a:ext cx="4206240" cy="320040"/>
          </a:xfrm>
          <a:prstGeom prst="rect">
            <a:avLst/>
          </a:prstGeom>
          <a:noFill/>
          <a:ln/>
        </p:spPr>
        <p:txBody>
          <a:bodyPr wrap="square" lIns="0" tIns="0" rIns="0" bIns="0" rtlCol="0" anchor="t"/>
          <a:lstStyle/>
          <a:p>
            <a:pPr marL="0" indent="0">
              <a:buNone/>
            </a:pPr>
            <a:r>
              <a:rPr lang="en-US" sz="1400" b="1" dirty="0">
                <a:solidFill>
                  <a:schemeClr val="tx2"/>
                </a:solidFill>
              </a:rPr>
              <a:t>What to check in the workbook</a:t>
            </a:r>
            <a:endParaRPr lang="en-US" sz="1400" dirty="0"/>
          </a:p>
        </p:txBody>
      </p:sp>
      <p:sp>
        <p:nvSpPr>
          <p:cNvPr id="18" name="chip-243"/>
          <p:cNvSpPr/>
          <p:nvPr/>
        </p:nvSpPr>
        <p:spPr>
          <a:xfrm>
            <a:off x="7223760" y="1965960"/>
            <a:ext cx="1325880" cy="292608"/>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9" name="text-244"/>
          <p:cNvSpPr txBox="1"/>
          <p:nvPr/>
        </p:nvSpPr>
        <p:spPr>
          <a:xfrm>
            <a:off x="7223760" y="1965960"/>
            <a:ext cx="1325880" cy="292608"/>
          </a:xfrm>
          <a:prstGeom prst="rect">
            <a:avLst/>
          </a:prstGeom>
          <a:noFill/>
          <a:ln/>
        </p:spPr>
        <p:txBody>
          <a:bodyPr wrap="square" lIns="0" tIns="0" rIns="0" bIns="0" rtlCol="0" anchor="ctr"/>
          <a:lstStyle/>
          <a:p>
            <a:pPr marL="0" indent="0" algn="ctr">
              <a:buNone/>
            </a:pPr>
            <a:r>
              <a:rPr lang="en-US" sz="1000" b="1" dirty="0">
                <a:solidFill>
                  <a:schemeClr val="bg1"/>
                </a:solidFill>
              </a:rPr>
              <a:t>StatusAudit</a:t>
            </a:r>
            <a:endParaRPr lang="en-US" sz="1000" dirty="0"/>
          </a:p>
        </p:txBody>
      </p:sp>
      <p:sp>
        <p:nvSpPr>
          <p:cNvPr id="20" name="text-245"/>
          <p:cNvSpPr txBox="1"/>
          <p:nvPr/>
        </p:nvSpPr>
        <p:spPr>
          <a:xfrm>
            <a:off x="7223760" y="2313432"/>
            <a:ext cx="4206240" cy="640080"/>
          </a:xfrm>
          <a:prstGeom prst="rect">
            <a:avLst/>
          </a:prstGeom>
          <a:noFill/>
          <a:ln/>
        </p:spPr>
        <p:txBody>
          <a:bodyPr wrap="square" lIns="0" tIns="0" rIns="0" bIns="0" rtlCol="0" anchor="t"/>
          <a:lstStyle/>
          <a:p>
            <a:pPr marL="0" indent="0">
              <a:lnSpc>
                <a:spcPct val="108000"/>
              </a:lnSpc>
              <a:buNone/>
            </a:pPr>
            <a:r>
              <a:rPr lang="en-US" sz="1100" dirty="0">
                <a:solidFill>
                  <a:schemeClr val="tx1"/>
                </a:solidFill>
              </a:rPr>
              <a:t>Every Jira status seen, classified DEV, QA or none. A new status that should count: add it to DEV_STATUSES or QA_STATUSES at the top of the Java file and recompile.</a:t>
            </a:r>
            <a:endParaRPr lang="en-US" sz="1100" dirty="0"/>
          </a:p>
        </p:txBody>
      </p:sp>
      <p:sp>
        <p:nvSpPr>
          <p:cNvPr id="21" name="chip-246"/>
          <p:cNvSpPr/>
          <p:nvPr/>
        </p:nvSpPr>
        <p:spPr>
          <a:xfrm>
            <a:off x="7223760" y="2971800"/>
            <a:ext cx="1325880" cy="292608"/>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2" name="text-247"/>
          <p:cNvSpPr txBox="1"/>
          <p:nvPr/>
        </p:nvSpPr>
        <p:spPr>
          <a:xfrm>
            <a:off x="7223760" y="2971800"/>
            <a:ext cx="1325880" cy="292608"/>
          </a:xfrm>
          <a:prstGeom prst="rect">
            <a:avLst/>
          </a:prstGeom>
          <a:noFill/>
          <a:ln/>
        </p:spPr>
        <p:txBody>
          <a:bodyPr wrap="square" lIns="0" tIns="0" rIns="0" bIns="0" rtlCol="0" anchor="ctr"/>
          <a:lstStyle/>
          <a:p>
            <a:pPr marL="0" indent="0" algn="ctr">
              <a:buNone/>
            </a:pPr>
            <a:r>
              <a:rPr lang="en-US" sz="1000" b="1" dirty="0">
                <a:solidFill>
                  <a:schemeClr val="bg1"/>
                </a:solidFill>
              </a:rPr>
              <a:t>Issues</a:t>
            </a:r>
            <a:endParaRPr lang="en-US" sz="1000" dirty="0"/>
          </a:p>
        </p:txBody>
      </p:sp>
      <p:sp>
        <p:nvSpPr>
          <p:cNvPr id="23" name="text-248"/>
          <p:cNvSpPr txBox="1"/>
          <p:nvPr/>
        </p:nvSpPr>
        <p:spPr>
          <a:xfrm>
            <a:off x="7223760" y="3319272"/>
            <a:ext cx="4206240" cy="640080"/>
          </a:xfrm>
          <a:prstGeom prst="rect">
            <a:avLst/>
          </a:prstGeom>
          <a:noFill/>
          <a:ln/>
        </p:spPr>
        <p:txBody>
          <a:bodyPr wrap="square" lIns="0" tIns="0" rIns="0" bIns="0" rtlCol="0" anchor="t"/>
          <a:lstStyle/>
          <a:p>
            <a:pPr marL="0" indent="0">
              <a:lnSpc>
                <a:spcPct val="108000"/>
              </a:lnSpc>
              <a:buNone/>
            </a:pPr>
            <a:r>
              <a:rPr lang="en-US" sz="1100" dirty="0">
                <a:solidFill>
                  <a:schemeClr val="tx1"/>
                </a:solidFill>
              </a:rPr>
              <a:t>Rows marked skip have no story points and produce zero hours. Fix them in Jira, not in the sheet.</a:t>
            </a:r>
            <a:endParaRPr lang="en-US" sz="1100" dirty="0"/>
          </a:p>
        </p:txBody>
      </p:sp>
      <p:sp>
        <p:nvSpPr>
          <p:cNvPr id="24" name="chip-249"/>
          <p:cNvSpPr/>
          <p:nvPr/>
        </p:nvSpPr>
        <p:spPr>
          <a:xfrm>
            <a:off x="7223760" y="3977640"/>
            <a:ext cx="1325880" cy="292608"/>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5" name="text-250"/>
          <p:cNvSpPr txBox="1"/>
          <p:nvPr/>
        </p:nvSpPr>
        <p:spPr>
          <a:xfrm>
            <a:off x="7223760" y="3977640"/>
            <a:ext cx="1325880" cy="292608"/>
          </a:xfrm>
          <a:prstGeom prst="rect">
            <a:avLst/>
          </a:prstGeom>
          <a:noFill/>
          <a:ln/>
        </p:spPr>
        <p:txBody>
          <a:bodyPr wrap="square" lIns="0" tIns="0" rIns="0" bIns="0" rtlCol="0" anchor="ctr"/>
          <a:lstStyle/>
          <a:p>
            <a:pPr marL="0" indent="0" algn="ctr">
              <a:buNone/>
            </a:pPr>
            <a:r>
              <a:rPr lang="en-US" sz="1000" b="1" dirty="0">
                <a:solidFill>
                  <a:schemeClr val="bg1"/>
                </a:solidFill>
              </a:rPr>
              <a:t>Summary</a:t>
            </a:r>
            <a:endParaRPr lang="en-US" sz="1000" dirty="0"/>
          </a:p>
        </p:txBody>
      </p:sp>
      <p:sp>
        <p:nvSpPr>
          <p:cNvPr id="26" name="text-251"/>
          <p:cNvSpPr txBox="1"/>
          <p:nvPr/>
        </p:nvSpPr>
        <p:spPr>
          <a:xfrm>
            <a:off x="7223760" y="4325112"/>
            <a:ext cx="4206240" cy="640080"/>
          </a:xfrm>
          <a:prstGeom prst="rect">
            <a:avLst/>
          </a:prstGeom>
          <a:noFill/>
          <a:ln/>
        </p:spPr>
        <p:txBody>
          <a:bodyPr wrap="square" lIns="0" tIns="0" rIns="0" bIns="0" rtlCol="0" anchor="t"/>
          <a:lstStyle/>
          <a:p>
            <a:pPr marL="0" indent="0">
              <a:lnSpc>
                <a:spcPct val="108000"/>
              </a:lnSpc>
              <a:buNone/>
            </a:pPr>
            <a:r>
              <a:rPr lang="en-US" sz="1100" dirty="0">
                <a:solidFill>
                  <a:schemeClr val="tx1"/>
                </a:solidFill>
              </a:rPr>
              <a:t>Person × month. Remove people who are not on Validaide B.V. payroll before anything goes to SubVice.</a:t>
            </a:r>
            <a:endParaRPr lang="en-US" sz="1100" dirty="0"/>
          </a:p>
        </p:txBody>
      </p:sp>
      <p:sp>
        <p:nvSpPr>
          <p:cNvPr id="27" name="chip-252"/>
          <p:cNvSpPr/>
          <p:nvPr/>
        </p:nvSpPr>
        <p:spPr>
          <a:xfrm>
            <a:off x="7223760" y="4983480"/>
            <a:ext cx="1325880" cy="292608"/>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8" name="text-253"/>
          <p:cNvSpPr txBox="1"/>
          <p:nvPr/>
        </p:nvSpPr>
        <p:spPr>
          <a:xfrm>
            <a:off x="7223760" y="4983480"/>
            <a:ext cx="1325880" cy="292608"/>
          </a:xfrm>
          <a:prstGeom prst="rect">
            <a:avLst/>
          </a:prstGeom>
          <a:noFill/>
          <a:ln/>
        </p:spPr>
        <p:txBody>
          <a:bodyPr wrap="square" lIns="0" tIns="0" rIns="0" bIns="0" rtlCol="0" anchor="ctr"/>
          <a:lstStyle/>
          <a:p>
            <a:pPr marL="0" indent="0" algn="ctr">
              <a:buNone/>
            </a:pPr>
            <a:r>
              <a:rPr lang="en-US" sz="1000" b="1" dirty="0">
                <a:solidFill>
                  <a:schemeClr val="bg1"/>
                </a:solidFill>
              </a:rPr>
              <a:t>Detail and Notes</a:t>
            </a:r>
            <a:endParaRPr lang="en-US" sz="1000" dirty="0"/>
          </a:p>
        </p:txBody>
      </p:sp>
      <p:sp>
        <p:nvSpPr>
          <p:cNvPr id="29" name="text-254"/>
          <p:cNvSpPr txBox="1"/>
          <p:nvPr/>
        </p:nvSpPr>
        <p:spPr>
          <a:xfrm>
            <a:off x="7223760" y="5330952"/>
            <a:ext cx="4206240" cy="640080"/>
          </a:xfrm>
          <a:prstGeom prst="rect">
            <a:avLst/>
          </a:prstGeom>
          <a:noFill/>
          <a:ln/>
        </p:spPr>
        <p:txBody>
          <a:bodyPr wrap="square" lIns="0" tIns="0" rIns="0" bIns="0" rtlCol="0" anchor="t"/>
          <a:lstStyle/>
          <a:p>
            <a:pPr marL="0" indent="0">
              <a:lnSpc>
                <a:spcPct val="108000"/>
              </a:lnSpc>
              <a:buNone/>
            </a:pPr>
            <a:r>
              <a:rPr lang="en-US" sz="1100" dirty="0">
                <a:solidFill>
                  <a:schemeClr val="tx1"/>
                </a:solidFill>
              </a:rPr>
              <a:t>The audit trail and the written methodology. They ship in every file; do not edit them.</a:t>
            </a:r>
            <a:endParaRPr lang="en-US" sz="1100" dirty="0"/>
          </a:p>
        </p:txBody>
      </p:sp>
      <p:sp>
        <p:nvSpPr>
          <p:cNvPr id="30"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Results: January to September 2026</a:t>
            </a:r>
            <a:endParaRPr lang="en-US" sz="3000" dirty="0"/>
          </a:p>
        </p:txBody>
      </p:sp>
      <p:sp>
        <p:nvSpPr>
          <p:cNvPr id="3" name="card-255"/>
          <p:cNvSpPr/>
          <p:nvPr/>
        </p:nvSpPr>
        <p:spPr>
          <a:xfrm>
            <a:off x="548640" y="1325880"/>
            <a:ext cx="2651760" cy="1097280"/>
          </a:xfrm>
          <a:prstGeom prst="roundRect">
            <a:avLst>
              <a:gd name="adj" fmla="val 8333"/>
            </a:avLst>
          </a:prstGeom>
          <a:solidFill>
            <a:schemeClr val="bg2"/>
          </a:solidFill>
          <a:ln w="12700">
            <a:solidFill>
              <a:schemeClr val="bg2"/>
            </a:solidFill>
            <a:prstDash val="solid"/>
          </a:ln>
        </p:spPr>
        <p:txBody>
          <a:bodyPr/>
          <a:lstStyle/>
          <a:p>
            <a:endParaRPr lang="en-US"/>
          </a:p>
        </p:txBody>
      </p:sp>
      <p:sp>
        <p:nvSpPr>
          <p:cNvPr id="4" name="text-256"/>
          <p:cNvSpPr txBox="1"/>
          <p:nvPr/>
        </p:nvSpPr>
        <p:spPr>
          <a:xfrm>
            <a:off x="777240" y="1417320"/>
            <a:ext cx="2194560" cy="548640"/>
          </a:xfrm>
          <a:prstGeom prst="rect">
            <a:avLst/>
          </a:prstGeom>
          <a:noFill/>
          <a:ln/>
        </p:spPr>
        <p:txBody>
          <a:bodyPr wrap="square" lIns="0" tIns="0" rIns="0" bIns="0" rtlCol="0" anchor="ctr"/>
          <a:lstStyle/>
          <a:p>
            <a:pPr marL="0" indent="0">
              <a:buNone/>
            </a:pPr>
            <a:r>
              <a:rPr lang="en-US" sz="3000" b="1" dirty="0">
                <a:solidFill>
                  <a:schemeClr val="accent1"/>
                </a:solidFill>
              </a:rPr>
              <a:t>1,217 h</a:t>
            </a:r>
            <a:endParaRPr lang="en-US" sz="3000" dirty="0"/>
          </a:p>
        </p:txBody>
      </p:sp>
      <p:sp>
        <p:nvSpPr>
          <p:cNvPr id="5" name="text-257"/>
          <p:cNvSpPr txBox="1"/>
          <p:nvPr/>
        </p:nvSpPr>
        <p:spPr>
          <a:xfrm>
            <a:off x="777240" y="1965960"/>
            <a:ext cx="2194560" cy="365760"/>
          </a:xfrm>
          <a:prstGeom prst="rect">
            <a:avLst/>
          </a:prstGeom>
          <a:noFill/>
          <a:ln/>
        </p:spPr>
        <p:txBody>
          <a:bodyPr wrap="square" lIns="0" tIns="0" rIns="0" bIns="0" rtlCol="0" anchor="t"/>
          <a:lstStyle/>
          <a:p>
            <a:pPr marL="0" indent="0">
              <a:buNone/>
            </a:pPr>
            <a:r>
              <a:rPr lang="en-US" sz="1100" dirty="0">
                <a:solidFill>
                  <a:schemeClr val="accent6"/>
                </a:solidFill>
              </a:rPr>
              <a:t>substantiated in nine monthly runs</a:t>
            </a:r>
            <a:endParaRPr lang="en-US" sz="1100" dirty="0"/>
          </a:p>
        </p:txBody>
      </p:sp>
      <p:sp>
        <p:nvSpPr>
          <p:cNvPr id="6" name="card-258"/>
          <p:cNvSpPr/>
          <p:nvPr/>
        </p:nvSpPr>
        <p:spPr>
          <a:xfrm>
            <a:off x="3383280" y="1325880"/>
            <a:ext cx="2651760" cy="1097280"/>
          </a:xfrm>
          <a:prstGeom prst="roundRect">
            <a:avLst>
              <a:gd name="adj" fmla="val 8333"/>
            </a:avLst>
          </a:prstGeom>
          <a:solidFill>
            <a:schemeClr val="bg2"/>
          </a:solidFill>
          <a:ln w="12700">
            <a:solidFill>
              <a:schemeClr val="bg2"/>
            </a:solidFill>
            <a:prstDash val="solid"/>
          </a:ln>
        </p:spPr>
        <p:txBody>
          <a:bodyPr/>
          <a:lstStyle/>
          <a:p>
            <a:endParaRPr lang="en-US"/>
          </a:p>
        </p:txBody>
      </p:sp>
      <p:sp>
        <p:nvSpPr>
          <p:cNvPr id="7" name="text-259"/>
          <p:cNvSpPr txBox="1"/>
          <p:nvPr/>
        </p:nvSpPr>
        <p:spPr>
          <a:xfrm>
            <a:off x="3611880" y="1417320"/>
            <a:ext cx="2194560" cy="548640"/>
          </a:xfrm>
          <a:prstGeom prst="rect">
            <a:avLst/>
          </a:prstGeom>
          <a:noFill/>
          <a:ln/>
        </p:spPr>
        <p:txBody>
          <a:bodyPr wrap="square" lIns="0" tIns="0" rIns="0" bIns="0" rtlCol="0" anchor="ctr"/>
          <a:lstStyle/>
          <a:p>
            <a:pPr marL="0" indent="0">
              <a:buNone/>
            </a:pPr>
            <a:r>
              <a:rPr lang="en-US" sz="3000" b="1" dirty="0">
                <a:solidFill>
                  <a:schemeClr val="accent1"/>
                </a:solidFill>
              </a:rPr>
              <a:t>41%</a:t>
            </a:r>
            <a:endParaRPr lang="en-US" sz="3000" dirty="0"/>
          </a:p>
        </p:txBody>
      </p:sp>
      <p:sp>
        <p:nvSpPr>
          <p:cNvPr id="8" name="text-260"/>
          <p:cNvSpPr txBox="1"/>
          <p:nvPr/>
        </p:nvSpPr>
        <p:spPr>
          <a:xfrm>
            <a:off x="3611880" y="1965960"/>
            <a:ext cx="2194560" cy="365760"/>
          </a:xfrm>
          <a:prstGeom prst="rect">
            <a:avLst/>
          </a:prstGeom>
          <a:noFill/>
          <a:ln/>
        </p:spPr>
        <p:txBody>
          <a:bodyPr wrap="square" lIns="0" tIns="0" rIns="0" bIns="0" rtlCol="0" anchor="t"/>
          <a:lstStyle/>
          <a:p>
            <a:pPr marL="0" indent="0">
              <a:buNone/>
            </a:pPr>
            <a:r>
              <a:rPr lang="en-US" sz="1100" dirty="0">
                <a:solidFill>
                  <a:schemeClr val="accent6"/>
                </a:solidFill>
              </a:rPr>
              <a:t>of the 3,000 h granted for 2026</a:t>
            </a:r>
            <a:endParaRPr lang="en-US" sz="1100" dirty="0"/>
          </a:p>
        </p:txBody>
      </p:sp>
      <p:sp>
        <p:nvSpPr>
          <p:cNvPr id="9" name="card-261"/>
          <p:cNvSpPr/>
          <p:nvPr/>
        </p:nvSpPr>
        <p:spPr>
          <a:xfrm>
            <a:off x="6217920" y="1325880"/>
            <a:ext cx="2651760" cy="1097280"/>
          </a:xfrm>
          <a:prstGeom prst="roundRect">
            <a:avLst>
              <a:gd name="adj" fmla="val 8333"/>
            </a:avLst>
          </a:prstGeom>
          <a:solidFill>
            <a:schemeClr val="bg2"/>
          </a:solidFill>
          <a:ln w="12700">
            <a:solidFill>
              <a:schemeClr val="bg2"/>
            </a:solidFill>
            <a:prstDash val="solid"/>
          </a:ln>
        </p:spPr>
        <p:txBody>
          <a:bodyPr/>
          <a:lstStyle/>
          <a:p>
            <a:endParaRPr lang="en-US"/>
          </a:p>
        </p:txBody>
      </p:sp>
      <p:sp>
        <p:nvSpPr>
          <p:cNvPr id="10" name="text-262"/>
          <p:cNvSpPr txBox="1"/>
          <p:nvPr/>
        </p:nvSpPr>
        <p:spPr>
          <a:xfrm>
            <a:off x="6446520" y="1417320"/>
            <a:ext cx="2194560" cy="548640"/>
          </a:xfrm>
          <a:prstGeom prst="rect">
            <a:avLst/>
          </a:prstGeom>
          <a:noFill/>
          <a:ln/>
        </p:spPr>
        <p:txBody>
          <a:bodyPr wrap="square" lIns="0" tIns="0" rIns="0" bIns="0" rtlCol="0" anchor="ctr"/>
          <a:lstStyle/>
          <a:p>
            <a:pPr marL="0" indent="0">
              <a:buNone/>
            </a:pPr>
            <a:r>
              <a:rPr lang="en-US" sz="3000" b="1" dirty="0">
                <a:solidFill>
                  <a:schemeClr val="accent1"/>
                </a:solidFill>
              </a:rPr>
              <a:t>12</a:t>
            </a:r>
            <a:endParaRPr lang="en-US" sz="3000" dirty="0"/>
          </a:p>
        </p:txBody>
      </p:sp>
      <p:sp>
        <p:nvSpPr>
          <p:cNvPr id="11" name="text-263"/>
          <p:cNvSpPr txBox="1"/>
          <p:nvPr/>
        </p:nvSpPr>
        <p:spPr>
          <a:xfrm>
            <a:off x="6446520" y="1965960"/>
            <a:ext cx="2194560" cy="365760"/>
          </a:xfrm>
          <a:prstGeom prst="rect">
            <a:avLst/>
          </a:prstGeom>
          <a:noFill/>
          <a:ln/>
        </p:spPr>
        <p:txBody>
          <a:bodyPr wrap="square" lIns="0" tIns="0" rIns="0" bIns="0" rtlCol="0" anchor="t"/>
          <a:lstStyle/>
          <a:p>
            <a:pPr marL="0" indent="0">
              <a:buNone/>
            </a:pPr>
            <a:r>
              <a:rPr lang="en-US" sz="1100" dirty="0">
                <a:solidFill>
                  <a:schemeClr val="accent6"/>
                </a:solidFill>
              </a:rPr>
              <a:t>people with hours, all assignees</a:t>
            </a:r>
            <a:endParaRPr lang="en-US" sz="1100" dirty="0"/>
          </a:p>
        </p:txBody>
      </p:sp>
      <p:sp>
        <p:nvSpPr>
          <p:cNvPr id="12" name="card-264"/>
          <p:cNvSpPr/>
          <p:nvPr/>
        </p:nvSpPr>
        <p:spPr>
          <a:xfrm>
            <a:off x="9052560" y="1325880"/>
            <a:ext cx="2651760" cy="1097280"/>
          </a:xfrm>
          <a:prstGeom prst="roundRect">
            <a:avLst>
              <a:gd name="adj" fmla="val 8333"/>
            </a:avLst>
          </a:prstGeom>
          <a:solidFill>
            <a:schemeClr val="bg2"/>
          </a:solidFill>
          <a:ln w="12700">
            <a:solidFill>
              <a:schemeClr val="bg2"/>
            </a:solidFill>
            <a:prstDash val="solid"/>
          </a:ln>
        </p:spPr>
        <p:txBody>
          <a:bodyPr/>
          <a:lstStyle/>
          <a:p>
            <a:endParaRPr lang="en-US"/>
          </a:p>
        </p:txBody>
      </p:sp>
      <p:sp>
        <p:nvSpPr>
          <p:cNvPr id="13" name="text-265"/>
          <p:cNvSpPr txBox="1"/>
          <p:nvPr/>
        </p:nvSpPr>
        <p:spPr>
          <a:xfrm>
            <a:off x="9281160" y="1417320"/>
            <a:ext cx="2194560" cy="548640"/>
          </a:xfrm>
          <a:prstGeom prst="rect">
            <a:avLst/>
          </a:prstGeom>
          <a:noFill/>
          <a:ln/>
        </p:spPr>
        <p:txBody>
          <a:bodyPr wrap="square" lIns="0" tIns="0" rIns="0" bIns="0" rtlCol="0" anchor="ctr"/>
          <a:lstStyle/>
          <a:p>
            <a:pPr marL="0" indent="0">
              <a:buNone/>
            </a:pPr>
            <a:r>
              <a:rPr lang="en-US" sz="3000" b="1" dirty="0">
                <a:solidFill>
                  <a:schemeClr val="accent5"/>
                </a:solidFill>
              </a:rPr>
              <a:t>96 h</a:t>
            </a:r>
            <a:endParaRPr lang="en-US" sz="3000" dirty="0"/>
          </a:p>
        </p:txBody>
      </p:sp>
      <p:sp>
        <p:nvSpPr>
          <p:cNvPr id="14" name="text-266"/>
          <p:cNvSpPr txBox="1"/>
          <p:nvPr/>
        </p:nvSpPr>
        <p:spPr>
          <a:xfrm>
            <a:off x="9281160" y="1965960"/>
            <a:ext cx="2194560" cy="365760"/>
          </a:xfrm>
          <a:prstGeom prst="rect">
            <a:avLst/>
          </a:prstGeom>
          <a:noFill/>
          <a:ln/>
        </p:spPr>
        <p:txBody>
          <a:bodyPr wrap="square" lIns="0" tIns="0" rIns="0" bIns="0" rtlCol="0" anchor="t"/>
          <a:lstStyle/>
          <a:p>
            <a:pPr marL="0" indent="0">
              <a:buNone/>
            </a:pPr>
            <a:r>
              <a:rPr lang="en-US" sz="1100" dirty="0">
                <a:solidFill>
                  <a:schemeClr val="accent6"/>
                </a:solidFill>
              </a:rPr>
              <a:t>on unassigned tickets</a:t>
            </a:r>
            <a:endParaRPr lang="en-US" sz="1100" dirty="0"/>
          </a:p>
        </p:txBody>
      </p:sp>
      <p:sp>
        <p:nvSpPr>
          <p:cNvPr id="15" name="text-267"/>
          <p:cNvSpPr txBox="1"/>
          <p:nvPr/>
        </p:nvSpPr>
        <p:spPr>
          <a:xfrm>
            <a:off x="548640" y="2651760"/>
            <a:ext cx="5486400" cy="320040"/>
          </a:xfrm>
          <a:prstGeom prst="rect">
            <a:avLst/>
          </a:prstGeom>
          <a:noFill/>
          <a:ln/>
        </p:spPr>
        <p:txBody>
          <a:bodyPr wrap="square" lIns="0" tIns="0" rIns="0" bIns="0" rtlCol="0" anchor="t"/>
          <a:lstStyle/>
          <a:p>
            <a:pPr marL="0" indent="0">
              <a:buNone/>
            </a:pPr>
            <a:r>
              <a:rPr lang="en-US" sz="1300" b="1" dirty="0">
                <a:solidFill>
                  <a:schemeClr val="tx2"/>
                </a:solidFill>
              </a:rPr>
              <a:t>Hours per month</a:t>
            </a:r>
            <a:endParaRPr lang="en-US" sz="1300" dirty="0"/>
          </a:p>
        </p:txBody>
      </p:sp>
      <p:graphicFrame>
        <p:nvGraphicFramePr>
          <p:cNvPr id="16" name="chart-months-268"/>
          <p:cNvGraphicFramePr/>
          <p:nvPr/>
        </p:nvGraphicFramePr>
        <p:xfrm>
          <a:off x="548640" y="2971800"/>
          <a:ext cx="57607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269"/>
          <p:cNvSpPr txBox="1"/>
          <p:nvPr/>
        </p:nvSpPr>
        <p:spPr>
          <a:xfrm>
            <a:off x="6583680" y="2651760"/>
            <a:ext cx="5029200" cy="320040"/>
          </a:xfrm>
          <a:prstGeom prst="rect">
            <a:avLst/>
          </a:prstGeom>
          <a:noFill/>
          <a:ln/>
        </p:spPr>
        <p:txBody>
          <a:bodyPr wrap="square" lIns="0" tIns="0" rIns="0" bIns="0" rtlCol="0" anchor="t"/>
          <a:lstStyle/>
          <a:p>
            <a:pPr marL="0" indent="0">
              <a:buNone/>
            </a:pPr>
            <a:r>
              <a:rPr lang="en-US" sz="1300" b="1" dirty="0">
                <a:solidFill>
                  <a:schemeClr val="tx2"/>
                </a:solidFill>
              </a:rPr>
              <a:t>Hours per person, year to date</a:t>
            </a:r>
            <a:endParaRPr lang="en-US" sz="1300" dirty="0"/>
          </a:p>
        </p:txBody>
      </p:sp>
      <p:graphicFrame>
        <p:nvGraphicFramePr>
          <p:cNvPr id="18" name="chart-people-270"/>
          <p:cNvGraphicFramePr/>
          <p:nvPr/>
        </p:nvGraphicFramePr>
        <p:xfrm>
          <a:off x="6583680" y="2971800"/>
          <a:ext cx="507492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548640" y="411480"/>
            <a:ext cx="11064240" cy="731520"/>
          </a:xfrm>
          <a:prstGeom prst="rect">
            <a:avLst/>
          </a:prstGeom>
          <a:noFill/>
          <a:ln/>
        </p:spPr>
        <p:txBody>
          <a:bodyPr wrap="square" lIns="0" tIns="0" rIns="0" bIns="0" rtlCol="0" anchor="ctr"/>
          <a:lstStyle/>
          <a:p>
            <a:pPr marL="0" indent="0" algn="l">
              <a:buNone/>
            </a:pPr>
            <a:r>
              <a:rPr lang="en-US" sz="3000" b="1" dirty="0">
                <a:solidFill>
                  <a:srgbClr val="0E3F4D"/>
                </a:solidFill>
              </a:rPr>
              <a:t>What the numbers mean, and the owner’s calendar</a:t>
            </a:r>
            <a:endParaRPr lang="en-US" sz="3000" dirty="0"/>
          </a:p>
        </p:txBody>
      </p:sp>
      <p:sp>
        <p:nvSpPr>
          <p:cNvPr id="3" name="text-271"/>
          <p:cNvSpPr txBox="1"/>
          <p:nvPr/>
        </p:nvSpPr>
        <p:spPr>
          <a:xfrm>
            <a:off x="548640" y="1325880"/>
            <a:ext cx="5486400" cy="320040"/>
          </a:xfrm>
          <a:prstGeom prst="rect">
            <a:avLst/>
          </a:prstGeom>
          <a:noFill/>
          <a:ln/>
        </p:spPr>
        <p:txBody>
          <a:bodyPr wrap="square" lIns="0" tIns="0" rIns="0" bIns="0" rtlCol="0" anchor="t"/>
          <a:lstStyle/>
          <a:p>
            <a:pPr marL="0" indent="0">
              <a:buNone/>
            </a:pPr>
            <a:r>
              <a:rPr lang="en-US" sz="1400" b="1" dirty="0">
                <a:solidFill>
                  <a:schemeClr val="accent1"/>
                </a:solidFill>
              </a:rPr>
              <a:t>Reading the numbers</a:t>
            </a:r>
            <a:endParaRPr lang="en-US" sz="1400" dirty="0"/>
          </a:p>
        </p:txBody>
      </p:sp>
      <p:sp>
        <p:nvSpPr>
          <p:cNvPr id="4" name="icon-bg-272"/>
          <p:cNvSpPr/>
          <p:nvPr/>
        </p:nvSpPr>
        <p:spPr>
          <a:xfrm>
            <a:off x="548640" y="1828800"/>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5" name="icon-273" descr="preencoded.png"/>
          <p:cNvPicPr>
            <a:picLocks noChangeAspect="1"/>
          </p:cNvPicPr>
          <p:nvPr/>
        </p:nvPicPr>
        <p:blipFill>
          <a:blip r:embed="rId3"/>
          <a:stretch>
            <a:fillRect/>
          </a:stretch>
        </p:blipFill>
        <p:spPr>
          <a:xfrm>
            <a:off x="658368" y="1938528"/>
            <a:ext cx="237744" cy="237744"/>
          </a:xfrm>
          <a:prstGeom prst="rect">
            <a:avLst/>
          </a:prstGeom>
        </p:spPr>
      </p:pic>
      <p:sp>
        <p:nvSpPr>
          <p:cNvPr id="6" name="text-274"/>
          <p:cNvSpPr txBox="1"/>
          <p:nvPr/>
        </p:nvSpPr>
        <p:spPr>
          <a:xfrm>
            <a:off x="1188720" y="1737360"/>
            <a:ext cx="5120640" cy="960120"/>
          </a:xfrm>
          <a:prstGeom prst="rect">
            <a:avLst/>
          </a:prstGeom>
          <a:noFill/>
          <a:ln/>
        </p:spPr>
        <p:txBody>
          <a:bodyPr wrap="square" lIns="0" tIns="0" rIns="0" bIns="0" rtlCol="0" anchor="ctr"/>
          <a:lstStyle/>
          <a:p>
            <a:pPr marL="0" indent="0">
              <a:lnSpc>
                <a:spcPct val="110000"/>
              </a:lnSpc>
              <a:buNone/>
            </a:pPr>
            <a:r>
              <a:rPr lang="en-US" sz="1150" dirty="0">
                <a:solidFill>
                  <a:schemeClr val="tx1"/>
                </a:solidFill>
              </a:rPr>
              <a:t>Pace is about 135 h a month, so roughly 1,600 h by December: half the grant. At €17 per hour that is a correction of about €23,000 unless more qualifying work gets labelled.</a:t>
            </a:r>
            <a:endParaRPr lang="en-US" sz="1150" dirty="0"/>
          </a:p>
        </p:txBody>
      </p:sp>
      <p:sp>
        <p:nvSpPr>
          <p:cNvPr id="7" name="icon-bg-275"/>
          <p:cNvSpPr/>
          <p:nvPr/>
        </p:nvSpPr>
        <p:spPr>
          <a:xfrm>
            <a:off x="548640" y="2907792"/>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8" name="icon-276" descr="preencoded.png"/>
          <p:cNvPicPr>
            <a:picLocks noChangeAspect="1"/>
          </p:cNvPicPr>
          <p:nvPr/>
        </p:nvPicPr>
        <p:blipFill>
          <a:blip r:embed="rId4"/>
          <a:stretch>
            <a:fillRect/>
          </a:stretch>
        </p:blipFill>
        <p:spPr>
          <a:xfrm>
            <a:off x="658368" y="3017520"/>
            <a:ext cx="237744" cy="237744"/>
          </a:xfrm>
          <a:prstGeom prst="rect">
            <a:avLst/>
          </a:prstGeom>
        </p:spPr>
      </p:pic>
      <p:sp>
        <p:nvSpPr>
          <p:cNvPr id="9" name="text-277"/>
          <p:cNvSpPr txBox="1"/>
          <p:nvPr/>
        </p:nvSpPr>
        <p:spPr>
          <a:xfrm>
            <a:off x="1188720" y="2816352"/>
            <a:ext cx="5120640" cy="960120"/>
          </a:xfrm>
          <a:prstGeom prst="rect">
            <a:avLst/>
          </a:prstGeom>
          <a:noFill/>
          <a:ln/>
        </p:spPr>
        <p:txBody>
          <a:bodyPr wrap="square" lIns="0" tIns="0" rIns="0" bIns="0" rtlCol="0" anchor="ctr"/>
          <a:lstStyle/>
          <a:p>
            <a:pPr marL="0" indent="0">
              <a:lnSpc>
                <a:spcPct val="110000"/>
              </a:lnSpc>
              <a:buNone/>
            </a:pPr>
            <a:r>
              <a:rPr lang="en-US" sz="1150" dirty="0">
                <a:solidFill>
                  <a:schemeClr val="tx1"/>
                </a:solidFill>
              </a:rPr>
              <a:t>Only Validaide B.V. payroll staff count. The tool includes every assignee; filter the Summary before anything goes to SubVice (the application forecast 4 S&amp;O employees).</a:t>
            </a:r>
            <a:endParaRPr lang="en-US" sz="1150" dirty="0"/>
          </a:p>
        </p:txBody>
      </p:sp>
      <p:sp>
        <p:nvSpPr>
          <p:cNvPr id="10" name="icon-bg-278"/>
          <p:cNvSpPr/>
          <p:nvPr/>
        </p:nvSpPr>
        <p:spPr>
          <a:xfrm>
            <a:off x="548640" y="3986784"/>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11" name="icon-279" descr="preencoded.png"/>
          <p:cNvPicPr>
            <a:picLocks noChangeAspect="1"/>
          </p:cNvPicPr>
          <p:nvPr/>
        </p:nvPicPr>
        <p:blipFill>
          <a:blip r:embed="rId5"/>
          <a:stretch>
            <a:fillRect/>
          </a:stretch>
        </p:blipFill>
        <p:spPr>
          <a:xfrm>
            <a:off x="658368" y="4096512"/>
            <a:ext cx="237744" cy="237744"/>
          </a:xfrm>
          <a:prstGeom prst="rect">
            <a:avLst/>
          </a:prstGeom>
        </p:spPr>
      </p:pic>
      <p:sp>
        <p:nvSpPr>
          <p:cNvPr id="12" name="text-280"/>
          <p:cNvSpPr txBox="1"/>
          <p:nvPr/>
        </p:nvSpPr>
        <p:spPr>
          <a:xfrm>
            <a:off x="1188720" y="3895344"/>
            <a:ext cx="5120640" cy="960120"/>
          </a:xfrm>
          <a:prstGeom prst="rect">
            <a:avLst/>
          </a:prstGeom>
          <a:noFill/>
          <a:ln/>
        </p:spPr>
        <p:txBody>
          <a:bodyPr wrap="square" lIns="0" tIns="0" rIns="0" bIns="0" rtlCol="0" anchor="ctr"/>
          <a:lstStyle/>
          <a:p>
            <a:pPr marL="0" indent="0">
              <a:lnSpc>
                <a:spcPct val="110000"/>
              </a:lnSpc>
              <a:buNone/>
            </a:pPr>
            <a:r>
              <a:rPr lang="en-US" sz="1150" dirty="0">
                <a:solidFill>
                  <a:schemeClr val="tx1"/>
                </a:solidFill>
              </a:rPr>
              <a:t>Unassigned hours and quiet months usually mean a missing label, story points or assignee, not missing work. Check Jira before accepting a low month.</a:t>
            </a:r>
            <a:endParaRPr lang="en-US" sz="1150" dirty="0"/>
          </a:p>
        </p:txBody>
      </p:sp>
      <p:sp>
        <p:nvSpPr>
          <p:cNvPr id="13" name="icon-bg-281"/>
          <p:cNvSpPr/>
          <p:nvPr/>
        </p:nvSpPr>
        <p:spPr>
          <a:xfrm>
            <a:off x="548640" y="5065776"/>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14" name="icon-282" descr="preencoded.png"/>
          <p:cNvPicPr>
            <a:picLocks noChangeAspect="1"/>
          </p:cNvPicPr>
          <p:nvPr/>
        </p:nvPicPr>
        <p:blipFill>
          <a:blip r:embed="rId6"/>
          <a:stretch>
            <a:fillRect/>
          </a:stretch>
        </p:blipFill>
        <p:spPr>
          <a:xfrm>
            <a:off x="658368" y="5175504"/>
            <a:ext cx="237744" cy="237744"/>
          </a:xfrm>
          <a:prstGeom prst="rect">
            <a:avLst/>
          </a:prstGeom>
        </p:spPr>
      </p:pic>
      <p:sp>
        <p:nvSpPr>
          <p:cNvPr id="15" name="text-283"/>
          <p:cNvSpPr txBox="1"/>
          <p:nvPr/>
        </p:nvSpPr>
        <p:spPr>
          <a:xfrm>
            <a:off x="1188720" y="4974336"/>
            <a:ext cx="5120640" cy="960120"/>
          </a:xfrm>
          <a:prstGeom prst="rect">
            <a:avLst/>
          </a:prstGeom>
          <a:noFill/>
          <a:ln/>
        </p:spPr>
        <p:txBody>
          <a:bodyPr wrap="square" lIns="0" tIns="0" rIns="0" bIns="0" rtlCol="0" anchor="ctr"/>
          <a:lstStyle/>
          <a:p>
            <a:pPr marL="0" indent="0">
              <a:lnSpc>
                <a:spcPct val="110000"/>
              </a:lnSpc>
              <a:buNone/>
            </a:pPr>
            <a:r>
              <a:rPr lang="en-US" sz="1150" dirty="0">
                <a:solidFill>
                  <a:schemeClr val="tx1"/>
                </a:solidFill>
              </a:rPr>
              <a:t>Earlier months shift slightly when re-run, because an issue’s lifetime grows. Re-run the whole year before filing.</a:t>
            </a:r>
            <a:endParaRPr lang="en-US" sz="1150" dirty="0"/>
          </a:p>
        </p:txBody>
      </p:sp>
      <p:sp>
        <p:nvSpPr>
          <p:cNvPr id="16" name="card-284"/>
          <p:cNvSpPr/>
          <p:nvPr/>
        </p:nvSpPr>
        <p:spPr>
          <a:xfrm>
            <a:off x="6766560" y="1325880"/>
            <a:ext cx="4892040" cy="4754880"/>
          </a:xfrm>
          <a:prstGeom prst="roundRect">
            <a:avLst>
              <a:gd name="adj" fmla="val 1923"/>
            </a:avLst>
          </a:prstGeom>
          <a:solidFill>
            <a:schemeClr val="bg2"/>
          </a:solidFill>
          <a:ln w="12700">
            <a:solidFill>
              <a:schemeClr val="bg2"/>
            </a:solidFill>
            <a:prstDash val="solid"/>
          </a:ln>
        </p:spPr>
        <p:txBody>
          <a:bodyPr/>
          <a:lstStyle/>
          <a:p>
            <a:endParaRPr lang="en-US"/>
          </a:p>
        </p:txBody>
      </p:sp>
      <p:sp>
        <p:nvSpPr>
          <p:cNvPr id="17" name="text-285"/>
          <p:cNvSpPr txBox="1"/>
          <p:nvPr/>
        </p:nvSpPr>
        <p:spPr>
          <a:xfrm>
            <a:off x="7040880" y="1508760"/>
            <a:ext cx="4389120" cy="320040"/>
          </a:xfrm>
          <a:prstGeom prst="rect">
            <a:avLst/>
          </a:prstGeom>
          <a:noFill/>
          <a:ln/>
        </p:spPr>
        <p:txBody>
          <a:bodyPr wrap="square" lIns="0" tIns="0" rIns="0" bIns="0" rtlCol="0" anchor="t"/>
          <a:lstStyle/>
          <a:p>
            <a:pPr marL="0" indent="0">
              <a:buNone/>
            </a:pPr>
            <a:r>
              <a:rPr lang="en-US" sz="1400" b="1" dirty="0">
                <a:solidFill>
                  <a:schemeClr val="tx2"/>
                </a:solidFill>
              </a:rPr>
              <a:t>The calendar</a:t>
            </a:r>
            <a:endParaRPr lang="en-US" sz="1400" dirty="0"/>
          </a:p>
        </p:txBody>
      </p:sp>
      <p:sp>
        <p:nvSpPr>
          <p:cNvPr id="18" name="chip-286"/>
          <p:cNvSpPr/>
          <p:nvPr/>
        </p:nvSpPr>
        <p:spPr>
          <a:xfrm>
            <a:off x="7040880" y="1938528"/>
            <a:ext cx="141732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19" name="text-287"/>
          <p:cNvSpPr txBox="1"/>
          <p:nvPr/>
        </p:nvSpPr>
        <p:spPr>
          <a:xfrm>
            <a:off x="7040880" y="1938528"/>
            <a:ext cx="1417320" cy="292608"/>
          </a:xfrm>
          <a:prstGeom prst="rect">
            <a:avLst/>
          </a:prstGeom>
          <a:noFill/>
          <a:ln/>
        </p:spPr>
        <p:txBody>
          <a:bodyPr wrap="square" lIns="0" tIns="0" rIns="0" bIns="0" rtlCol="0" anchor="ctr"/>
          <a:lstStyle/>
          <a:p>
            <a:pPr marL="0" indent="0" algn="ctr">
              <a:buNone/>
            </a:pPr>
            <a:r>
              <a:rPr lang="en-US" sz="1000" b="1" dirty="0">
                <a:solidFill>
                  <a:schemeClr val="bg1"/>
                </a:solidFill>
              </a:rPr>
              <a:t>Monthly</a:t>
            </a:r>
            <a:endParaRPr lang="en-US" sz="1000" dirty="0"/>
          </a:p>
        </p:txBody>
      </p:sp>
      <p:sp>
        <p:nvSpPr>
          <p:cNvPr id="20" name="text-288"/>
          <p:cNvSpPr txBox="1"/>
          <p:nvPr/>
        </p:nvSpPr>
        <p:spPr>
          <a:xfrm>
            <a:off x="8595360" y="1920240"/>
            <a:ext cx="2880360" cy="640080"/>
          </a:xfrm>
          <a:prstGeom prst="rect">
            <a:avLst/>
          </a:prstGeom>
          <a:noFill/>
          <a:ln/>
        </p:spPr>
        <p:txBody>
          <a:bodyPr wrap="square" lIns="0" tIns="0" rIns="0" bIns="0" rtlCol="0" anchor="t"/>
          <a:lstStyle/>
          <a:p>
            <a:pPr marL="0" indent="0">
              <a:lnSpc>
                <a:spcPct val="105000"/>
              </a:lnSpc>
              <a:buNone/>
            </a:pPr>
            <a:r>
              <a:rPr lang="en-US" sz="1050" dirty="0">
                <a:solidFill>
                  <a:schemeClr val="tx1"/>
                </a:solidFill>
              </a:rPr>
              <a:t>Run the report, archive it in wbso/reports, glance at StatusAudit and the skip rows.</a:t>
            </a:r>
            <a:endParaRPr lang="en-US" sz="1050" dirty="0"/>
          </a:p>
        </p:txBody>
      </p:sp>
      <p:sp>
        <p:nvSpPr>
          <p:cNvPr id="21" name="chip-289"/>
          <p:cNvSpPr/>
          <p:nvPr/>
        </p:nvSpPr>
        <p:spPr>
          <a:xfrm>
            <a:off x="7040880" y="2615184"/>
            <a:ext cx="141732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22" name="text-290"/>
          <p:cNvSpPr txBox="1"/>
          <p:nvPr/>
        </p:nvSpPr>
        <p:spPr>
          <a:xfrm>
            <a:off x="7040880" y="2615184"/>
            <a:ext cx="1417320" cy="292608"/>
          </a:xfrm>
          <a:prstGeom prst="rect">
            <a:avLst/>
          </a:prstGeom>
          <a:noFill/>
          <a:ln/>
        </p:spPr>
        <p:txBody>
          <a:bodyPr wrap="square" lIns="0" tIns="0" rIns="0" bIns="0" rtlCol="0" anchor="ctr"/>
          <a:lstStyle/>
          <a:p>
            <a:pPr marL="0" indent="0" algn="ctr">
              <a:buNone/>
            </a:pPr>
            <a:r>
              <a:rPr lang="en-US" sz="1000" b="1" dirty="0">
                <a:solidFill>
                  <a:schemeClr val="bg1"/>
                </a:solidFill>
              </a:rPr>
              <a:t>Quarterly</a:t>
            </a:r>
            <a:endParaRPr lang="en-US" sz="1000" dirty="0"/>
          </a:p>
        </p:txBody>
      </p:sp>
      <p:sp>
        <p:nvSpPr>
          <p:cNvPr id="23" name="text-291"/>
          <p:cNvSpPr txBox="1"/>
          <p:nvPr/>
        </p:nvSpPr>
        <p:spPr>
          <a:xfrm>
            <a:off x="8595360" y="2596896"/>
            <a:ext cx="2880360" cy="640080"/>
          </a:xfrm>
          <a:prstGeom prst="rect">
            <a:avLst/>
          </a:prstGeom>
          <a:noFill/>
          <a:ln/>
        </p:spPr>
        <p:txBody>
          <a:bodyPr wrap="square" lIns="0" tIns="0" rIns="0" bIns="0" rtlCol="0" anchor="t"/>
          <a:lstStyle/>
          <a:p>
            <a:pPr marL="0" indent="0">
              <a:lnSpc>
                <a:spcPct val="105000"/>
              </a:lnSpc>
              <a:buNone/>
            </a:pPr>
            <a:r>
              <a:rPr lang="en-US" sz="1050" dirty="0">
                <a:solidFill>
                  <a:schemeClr val="tx1"/>
                </a:solidFill>
              </a:rPr>
              <a:t>Review the wbso label against the 2601 phases with the product owner; fix story points and assignees.</a:t>
            </a:r>
            <a:endParaRPr lang="en-US" sz="1050" dirty="0"/>
          </a:p>
        </p:txBody>
      </p:sp>
      <p:sp>
        <p:nvSpPr>
          <p:cNvPr id="24" name="chip-292"/>
          <p:cNvSpPr/>
          <p:nvPr/>
        </p:nvSpPr>
        <p:spPr>
          <a:xfrm>
            <a:off x="7040880" y="3291840"/>
            <a:ext cx="141732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25" name="text-293"/>
          <p:cNvSpPr txBox="1"/>
          <p:nvPr/>
        </p:nvSpPr>
        <p:spPr>
          <a:xfrm>
            <a:off x="7040880" y="3291840"/>
            <a:ext cx="1417320" cy="292608"/>
          </a:xfrm>
          <a:prstGeom prst="rect">
            <a:avLst/>
          </a:prstGeom>
          <a:noFill/>
          <a:ln/>
        </p:spPr>
        <p:txBody>
          <a:bodyPr wrap="square" lIns="0" tIns="0" rIns="0" bIns="0" rtlCol="0" anchor="ctr"/>
          <a:lstStyle/>
          <a:p>
            <a:pPr marL="0" indent="0" algn="ctr">
              <a:buNone/>
            </a:pPr>
            <a:r>
              <a:rPr lang="en-US" sz="1000" b="1" dirty="0">
                <a:solidFill>
                  <a:schemeClr val="bg1"/>
                </a:solidFill>
              </a:rPr>
              <a:t>Mid-Nov 2026</a:t>
            </a:r>
            <a:endParaRPr lang="en-US" sz="1000" dirty="0"/>
          </a:p>
        </p:txBody>
      </p:sp>
      <p:sp>
        <p:nvSpPr>
          <p:cNvPr id="26" name="text-294"/>
          <p:cNvSpPr txBox="1"/>
          <p:nvPr/>
        </p:nvSpPr>
        <p:spPr>
          <a:xfrm>
            <a:off x="8595360" y="3273552"/>
            <a:ext cx="2880360" cy="640080"/>
          </a:xfrm>
          <a:prstGeom prst="rect">
            <a:avLst/>
          </a:prstGeom>
          <a:noFill/>
          <a:ln/>
        </p:spPr>
        <p:txBody>
          <a:bodyPr wrap="square" lIns="0" tIns="0" rIns="0" bIns="0" rtlCol="0" anchor="t"/>
          <a:lstStyle/>
          <a:p>
            <a:pPr marL="0" indent="0">
              <a:lnSpc>
                <a:spcPct val="105000"/>
              </a:lnSpc>
              <a:buNone/>
            </a:pPr>
            <a:r>
              <a:rPr lang="en-US" sz="1050" dirty="0">
                <a:solidFill>
                  <a:schemeClr val="tx1"/>
                </a:solidFill>
              </a:rPr>
              <a:t>2027 application with SubVice: project, phases, hours. RVO opens the round mid-November.</a:t>
            </a:r>
            <a:endParaRPr lang="en-US" sz="1050" dirty="0"/>
          </a:p>
        </p:txBody>
      </p:sp>
      <p:sp>
        <p:nvSpPr>
          <p:cNvPr id="27" name="chip-295"/>
          <p:cNvSpPr/>
          <p:nvPr/>
        </p:nvSpPr>
        <p:spPr>
          <a:xfrm>
            <a:off x="7040880" y="3968496"/>
            <a:ext cx="141732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28" name="text-296"/>
          <p:cNvSpPr txBox="1"/>
          <p:nvPr/>
        </p:nvSpPr>
        <p:spPr>
          <a:xfrm>
            <a:off x="7040880" y="3968496"/>
            <a:ext cx="1417320" cy="292608"/>
          </a:xfrm>
          <a:prstGeom prst="rect">
            <a:avLst/>
          </a:prstGeom>
          <a:noFill/>
          <a:ln/>
        </p:spPr>
        <p:txBody>
          <a:bodyPr wrap="square" lIns="0" tIns="0" rIns="0" bIns="0" rtlCol="0" anchor="ctr"/>
          <a:lstStyle/>
          <a:p>
            <a:pPr marL="0" indent="0" algn="ctr">
              <a:buNone/>
            </a:pPr>
            <a:r>
              <a:rPr lang="en-US" sz="1000" b="1" dirty="0">
                <a:solidFill>
                  <a:schemeClr val="bg1"/>
                </a:solidFill>
              </a:rPr>
              <a:t>Jan to Mar 2027</a:t>
            </a:r>
            <a:endParaRPr lang="en-US" sz="1000" dirty="0"/>
          </a:p>
        </p:txBody>
      </p:sp>
      <p:sp>
        <p:nvSpPr>
          <p:cNvPr id="29" name="text-297"/>
          <p:cNvSpPr txBox="1"/>
          <p:nvPr/>
        </p:nvSpPr>
        <p:spPr>
          <a:xfrm>
            <a:off x="8595360" y="3950208"/>
            <a:ext cx="2880360" cy="640080"/>
          </a:xfrm>
          <a:prstGeom prst="rect">
            <a:avLst/>
          </a:prstGeom>
          <a:noFill/>
          <a:ln/>
        </p:spPr>
        <p:txBody>
          <a:bodyPr wrap="square" lIns="0" tIns="0" rIns="0" bIns="0" rtlCol="0" anchor="t"/>
          <a:lstStyle/>
          <a:p>
            <a:pPr marL="0" indent="0">
              <a:lnSpc>
                <a:spcPct val="105000"/>
              </a:lnSpc>
              <a:buNone/>
            </a:pPr>
            <a:r>
              <a:rPr lang="en-US" sz="1050" dirty="0">
                <a:solidFill>
                  <a:schemeClr val="tx1"/>
                </a:solidFill>
              </a:rPr>
              <a:t>Re-run all of 2026, apply the payroll filter, send totals and BSNs to SubVice.</a:t>
            </a:r>
            <a:endParaRPr lang="en-US" sz="1050" dirty="0"/>
          </a:p>
        </p:txBody>
      </p:sp>
      <p:sp>
        <p:nvSpPr>
          <p:cNvPr id="30" name="chip-298"/>
          <p:cNvSpPr/>
          <p:nvPr/>
        </p:nvSpPr>
        <p:spPr>
          <a:xfrm>
            <a:off x="7040880" y="4645152"/>
            <a:ext cx="1417320" cy="292608"/>
          </a:xfrm>
          <a:prstGeom prst="roundRect">
            <a:avLst>
              <a:gd name="adj" fmla="val 50000"/>
            </a:avLst>
          </a:prstGeom>
          <a:solidFill>
            <a:schemeClr val="accent5"/>
          </a:solidFill>
          <a:ln w="12700">
            <a:solidFill>
              <a:schemeClr val="accent5"/>
            </a:solidFill>
            <a:prstDash val="solid"/>
          </a:ln>
        </p:spPr>
        <p:txBody>
          <a:bodyPr/>
          <a:lstStyle/>
          <a:p>
            <a:endParaRPr lang="en-US"/>
          </a:p>
        </p:txBody>
      </p:sp>
      <p:sp>
        <p:nvSpPr>
          <p:cNvPr id="31" name="text-299"/>
          <p:cNvSpPr txBox="1"/>
          <p:nvPr/>
        </p:nvSpPr>
        <p:spPr>
          <a:xfrm>
            <a:off x="7040880" y="4645152"/>
            <a:ext cx="1417320" cy="292608"/>
          </a:xfrm>
          <a:prstGeom prst="rect">
            <a:avLst/>
          </a:prstGeom>
          <a:noFill/>
          <a:ln/>
        </p:spPr>
        <p:txBody>
          <a:bodyPr wrap="square" lIns="0" tIns="0" rIns="0" bIns="0" rtlCol="0" anchor="ctr"/>
          <a:lstStyle/>
          <a:p>
            <a:pPr marL="0" indent="0" algn="ctr">
              <a:buNone/>
            </a:pPr>
            <a:r>
              <a:rPr lang="en-US" sz="1000" b="1" dirty="0">
                <a:solidFill>
                  <a:schemeClr val="bg1"/>
                </a:solidFill>
              </a:rPr>
              <a:t>31 Mar 2027</a:t>
            </a:r>
            <a:endParaRPr lang="en-US" sz="1000" dirty="0"/>
          </a:p>
        </p:txBody>
      </p:sp>
      <p:sp>
        <p:nvSpPr>
          <p:cNvPr id="32" name="text-300"/>
          <p:cNvSpPr txBox="1"/>
          <p:nvPr/>
        </p:nvSpPr>
        <p:spPr>
          <a:xfrm>
            <a:off x="8595360" y="4626864"/>
            <a:ext cx="2880360" cy="640080"/>
          </a:xfrm>
          <a:prstGeom prst="rect">
            <a:avLst/>
          </a:prstGeom>
          <a:noFill/>
          <a:ln/>
        </p:spPr>
        <p:txBody>
          <a:bodyPr wrap="square" lIns="0" tIns="0" rIns="0" bIns="0" rtlCol="0" anchor="t"/>
          <a:lstStyle/>
          <a:p>
            <a:pPr marL="0" indent="0">
              <a:lnSpc>
                <a:spcPct val="105000"/>
              </a:lnSpc>
              <a:buNone/>
            </a:pPr>
            <a:r>
              <a:rPr lang="en-US" sz="1050" dirty="0">
                <a:solidFill>
                  <a:schemeClr val="tx1"/>
                </a:solidFill>
              </a:rPr>
              <a:t>Hard deadline for the realisation report (mededeling) and the BSN notification.</a:t>
            </a:r>
            <a:endParaRPr lang="en-US" sz="1050" dirty="0"/>
          </a:p>
        </p:txBody>
      </p:sp>
      <p:sp>
        <p:nvSpPr>
          <p:cNvPr id="33" name="chip-301"/>
          <p:cNvSpPr/>
          <p:nvPr/>
        </p:nvSpPr>
        <p:spPr>
          <a:xfrm>
            <a:off x="7040880" y="5321808"/>
            <a:ext cx="1417320" cy="292608"/>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34" name="text-302"/>
          <p:cNvSpPr txBox="1"/>
          <p:nvPr/>
        </p:nvSpPr>
        <p:spPr>
          <a:xfrm>
            <a:off x="7040880" y="5321808"/>
            <a:ext cx="1417320" cy="292608"/>
          </a:xfrm>
          <a:prstGeom prst="rect">
            <a:avLst/>
          </a:prstGeom>
          <a:noFill/>
          <a:ln/>
        </p:spPr>
        <p:txBody>
          <a:bodyPr wrap="square" lIns="0" tIns="0" rIns="0" bIns="0" rtlCol="0" anchor="ctr"/>
          <a:lstStyle/>
          <a:p>
            <a:pPr marL="0" indent="0" algn="ctr">
              <a:buNone/>
            </a:pPr>
            <a:r>
              <a:rPr lang="en-US" sz="1000" b="1" dirty="0">
                <a:solidFill>
                  <a:schemeClr val="bg1"/>
                </a:solidFill>
              </a:rPr>
              <a:t>Afterwards</a:t>
            </a:r>
            <a:endParaRPr lang="en-US" sz="1000" dirty="0"/>
          </a:p>
        </p:txBody>
      </p:sp>
      <p:sp>
        <p:nvSpPr>
          <p:cNvPr id="35" name="text-303"/>
          <p:cNvSpPr txBox="1"/>
          <p:nvPr/>
        </p:nvSpPr>
        <p:spPr>
          <a:xfrm>
            <a:off x="8595360" y="5303520"/>
            <a:ext cx="2880360" cy="640080"/>
          </a:xfrm>
          <a:prstGeom prst="rect">
            <a:avLst/>
          </a:prstGeom>
          <a:noFill/>
          <a:ln/>
        </p:spPr>
        <p:txBody>
          <a:bodyPr wrap="square" lIns="0" tIns="0" rIns="0" bIns="0" rtlCol="0" anchor="t"/>
          <a:lstStyle/>
          <a:p>
            <a:pPr marL="0" indent="0">
              <a:lnSpc>
                <a:spcPct val="105000"/>
              </a:lnSpc>
              <a:buNone/>
            </a:pPr>
            <a:r>
              <a:rPr lang="en-US" sz="1050" dirty="0">
                <a:solidFill>
                  <a:schemeClr val="tx1"/>
                </a:solidFill>
              </a:rPr>
              <a:t>Keep Jira and the workbooks: RVO can still audit the 2026 figures.</a:t>
            </a:r>
            <a:endParaRPr lang="en-US" sz="1050" dirty="0"/>
          </a:p>
        </p:txBody>
      </p:sp>
      <p:sp>
        <p:nvSpPr>
          <p:cNvPr id="36" name="Slide Number Placeholder 0"/>
          <p:cNvSpPr>
            <a:spLocks noGrp="1"/>
          </p:cNvSpPr>
          <p:nvPr>
            <p:ph type="sldNum" sz="quarter" idx="4294967295"/>
          </p:nvPr>
        </p:nvSpPr>
        <p:spPr>
          <a:xfrm>
            <a:off x="11247120" y="6336792"/>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17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logo-validaide-305" descr="/private/tmp/claude-502/-Users-gianluigidisconzi-projects-github-reporting-utils/5823384a-f0fa-4290-8dea-c1a042c1d6c8/scratchpad/build/assets/validaide_white.png"/>
          <p:cNvPicPr>
            <a:picLocks noChangeAspect="1"/>
          </p:cNvPicPr>
          <p:nvPr/>
        </p:nvPicPr>
        <p:blipFill>
          <a:blip r:embed="rId3"/>
          <a:stretch>
            <a:fillRect/>
          </a:stretch>
        </p:blipFill>
        <p:spPr>
          <a:xfrm>
            <a:off x="548640" y="603504"/>
            <a:ext cx="2194560" cy="382219"/>
          </a:xfrm>
          <a:prstGeom prst="rect">
            <a:avLst/>
          </a:prstGeom>
        </p:spPr>
      </p:pic>
      <p:sp>
        <p:nvSpPr>
          <p:cNvPr id="4" name="divider-306"/>
          <p:cNvSpPr/>
          <p:nvPr/>
        </p:nvSpPr>
        <p:spPr>
          <a:xfrm>
            <a:off x="2971800" y="548640"/>
            <a:ext cx="0" cy="493776"/>
          </a:xfrm>
          <a:prstGeom prst="line">
            <a:avLst/>
          </a:prstGeom>
          <a:noFill/>
          <a:ln w="12700">
            <a:solidFill>
              <a:schemeClr val="accent2"/>
            </a:solidFill>
            <a:prstDash val="solid"/>
          </a:ln>
        </p:spPr>
        <p:txBody>
          <a:bodyPr/>
          <a:lstStyle/>
          <a:p>
            <a:endParaRPr lang="en-US"/>
          </a:p>
        </p:txBody>
      </p:sp>
      <p:pic>
        <p:nvPicPr>
          <p:cNvPr id="5" name="logo-skycell-307" descr="/private/tmp/claude-502/-Users-gianluigidisconzi-projects-github-reporting-utils/5823384a-f0fa-4290-8dea-c1a042c1d6c8/scratchpad/build/assets/skycell_white.png"/>
          <p:cNvPicPr>
            <a:picLocks noChangeAspect="1"/>
          </p:cNvPicPr>
          <p:nvPr/>
        </p:nvPicPr>
        <p:blipFill>
          <a:blip r:embed="rId4"/>
          <a:stretch>
            <a:fillRect/>
          </a:stretch>
        </p:blipFill>
        <p:spPr>
          <a:xfrm>
            <a:off x="3200400" y="566928"/>
            <a:ext cx="1508760" cy="450799"/>
          </a:xfrm>
          <a:prstGeom prst="rect">
            <a:avLst/>
          </a:prstGeom>
        </p:spPr>
      </p:pic>
      <p:sp>
        <p:nvSpPr>
          <p:cNvPr id="6" name="Text 0"/>
          <p:cNvSpPr>
            <a:spLocks noGrp="1"/>
          </p:cNvSpPr>
          <p:nvPr>
            <p:ph type="title" idx="100" hasCustomPrompt="1"/>
          </p:nvPr>
        </p:nvSpPr>
        <p:spPr>
          <a:xfrm>
            <a:off x="548640" y="2148840"/>
            <a:ext cx="7863840" cy="1097280"/>
          </a:xfrm>
          <a:prstGeom prst="rect">
            <a:avLst/>
          </a:prstGeom>
          <a:noFill/>
          <a:ln/>
        </p:spPr>
        <p:txBody>
          <a:bodyPr wrap="square" lIns="0" tIns="0" rIns="0" bIns="0" rtlCol="0" anchor="ctr"/>
          <a:lstStyle/>
          <a:p>
            <a:pPr marL="0" indent="0" algn="l">
              <a:buNone/>
            </a:pPr>
            <a:r>
              <a:rPr lang="en-US" sz="4400" b="1" dirty="0">
                <a:solidFill>
                  <a:srgbClr val="FFFFFF"/>
                </a:solidFill>
              </a:rPr>
              <a:t>Thank you</a:t>
            </a:r>
            <a:endParaRPr lang="en-US" sz="4400" dirty="0"/>
          </a:p>
        </p:txBody>
      </p:sp>
      <p:sp>
        <p:nvSpPr>
          <p:cNvPr id="7" name="Text 0"/>
          <p:cNvSpPr>
            <a:spLocks noGrp="1"/>
          </p:cNvSpPr>
          <p:nvPr>
            <p:ph type="body" idx="101" hasCustomPrompt="1"/>
          </p:nvPr>
        </p:nvSpPr>
        <p:spPr>
          <a:xfrm>
            <a:off x="548640" y="3246120"/>
            <a:ext cx="7315200" cy="1005840"/>
          </a:xfrm>
          <a:prstGeom prst="rect">
            <a:avLst/>
          </a:prstGeom>
          <a:noFill/>
          <a:ln/>
        </p:spPr>
        <p:txBody>
          <a:bodyPr wrap="square" lIns="0" tIns="0" rIns="0" bIns="0" rtlCol="0" anchor="t"/>
          <a:lstStyle/>
          <a:p>
            <a:pPr marL="0" indent="0" algn="l">
              <a:buNone/>
            </a:pPr>
            <a:r>
              <a:rPr lang="en-US" sz="2000" dirty="0">
                <a:solidFill>
                  <a:srgbClr val="50C8E8"/>
                </a:solidFill>
              </a:rPr>
              <a:t>Questions?</a:t>
            </a:r>
            <a:endParaRPr lang="en-US" sz="2000" dirty="0"/>
          </a:p>
        </p:txBody>
      </p:sp>
      <p:sp>
        <p:nvSpPr>
          <p:cNvPr id="8" name="text-308"/>
          <p:cNvSpPr txBox="1"/>
          <p:nvPr/>
        </p:nvSpPr>
        <p:spPr>
          <a:xfrm>
            <a:off x="548640" y="4343400"/>
            <a:ext cx="5486400" cy="320040"/>
          </a:xfrm>
          <a:prstGeom prst="rect">
            <a:avLst/>
          </a:prstGeom>
          <a:noFill/>
          <a:ln/>
        </p:spPr>
        <p:txBody>
          <a:bodyPr wrap="square" lIns="0" tIns="0" rIns="0" bIns="0" rtlCol="0" anchor="t"/>
          <a:lstStyle/>
          <a:p>
            <a:pPr marL="0" indent="0">
              <a:buNone/>
            </a:pPr>
            <a:r>
              <a:rPr lang="en-US" sz="1300" b="1" dirty="0">
                <a:solidFill>
                  <a:schemeClr val="accent2"/>
                </a:solidFill>
              </a:rPr>
              <a:t>Where to find everything</a:t>
            </a:r>
            <a:endParaRPr lang="en-US" sz="1300" dirty="0"/>
          </a:p>
        </p:txBody>
      </p:sp>
      <p:sp>
        <p:nvSpPr>
          <p:cNvPr id="9" name="text-309"/>
          <p:cNvSpPr txBox="1"/>
          <p:nvPr/>
        </p:nvSpPr>
        <p:spPr>
          <a:xfrm>
            <a:off x="548640" y="4709160"/>
            <a:ext cx="7680960" cy="1280160"/>
          </a:xfrm>
          <a:prstGeom prst="rect">
            <a:avLst/>
          </a:prstGeom>
          <a:noFill/>
          <a:ln/>
        </p:spPr>
        <p:txBody>
          <a:bodyPr wrap="square" lIns="0" tIns="0" rIns="0" bIns="0" rtlCol="0" anchor="t"/>
          <a:lstStyle/>
          <a:p>
            <a:pPr marL="0" indent="0">
              <a:lnSpc>
                <a:spcPct val="120000"/>
              </a:lnSpc>
              <a:buNone/>
            </a:pPr>
            <a:r>
              <a:rPr lang="en-US" sz="1200" b="1" dirty="0">
                <a:solidFill>
                  <a:schemeClr val="bg1"/>
                </a:solidFill>
              </a:rPr>
              <a:t>Repository reporting-utils: </a:t>
            </a:r>
            <a:r>
              <a:rPr lang="en-US" sz="1200" dirty="0">
                <a:solidFill>
                  <a:schemeClr val="bg2"/>
                </a:solidFill>
              </a:rPr>
              <a:t>wbso/WbsoHours.java and README.md (the tool), wbso/reports/ (monthly workbooks), docs/ (RVO letters 2025 and 2026, old timesheet).</a:t>
            </a:r>
            <a:endParaRPr lang="en-US" sz="1200" dirty="0"/>
          </a:p>
          <a:p>
            <a:pPr marL="0" indent="0">
              <a:lnSpc>
                <a:spcPct val="120000"/>
              </a:lnSpc>
              <a:buNone/>
            </a:pPr>
            <a:r>
              <a:rPr lang="en-US" sz="1200" b="1" dirty="0">
                <a:solidFill>
                  <a:schemeClr val="bg1"/>
                </a:solidFill>
              </a:rPr>
              <a:t>SubVice B.V.: </a:t>
            </a:r>
            <a:r>
              <a:rPr lang="en-US" sz="1200" dirty="0">
                <a:solidFill>
                  <a:schemeClr val="bg2"/>
                </a:solidFill>
              </a:rPr>
              <a:t>A.P. Kroes, kroes@subvice.nl, 0546 851 851.   </a:t>
            </a:r>
            <a:r>
              <a:rPr lang="en-US" sz="1200" b="1" dirty="0">
                <a:solidFill>
                  <a:schemeClr val="bg1"/>
                </a:solidFill>
              </a:rPr>
              <a:t>RVO WBSO desk: </a:t>
            </a:r>
            <a:r>
              <a:rPr lang="en-US" sz="1200" dirty="0">
                <a:solidFill>
                  <a:schemeClr val="bg2"/>
                </a:solidFill>
              </a:rPr>
              <a:t>WBSO@rvo.nl, 088 042 42 42.</a:t>
            </a:r>
            <a:endParaRPr lang="en-US" sz="1200" dirty="0"/>
          </a:p>
        </p:txBody>
      </p:sp>
    </p:spTree>
  </p:cSld>
  <p:clrMapOvr>
    <a:masterClrMapping/>
  </p:clrMapOvr>
</p:sld>
</file>

<file path=ppt/theme/theme1.xml><?xml version="1.0" encoding="utf-8"?>
<a:theme xmlns:a="http://schemas.openxmlformats.org/drawingml/2006/main" name="Validaide SkyCell WBSO">
  <a:themeElements>
    <a:clrScheme name="Validaide SkyCell WBSO">
      <a:dk1>
        <a:srgbClr val="1D1D1B"/>
      </a:dk1>
      <a:lt1>
        <a:srgbClr val="FFFFFF"/>
      </a:lt1>
      <a:dk2>
        <a:srgbClr val="0E3F4D"/>
      </a:dk2>
      <a:lt2>
        <a:srgbClr val="EEF5F6"/>
      </a:lt2>
      <a:accent1>
        <a:srgbClr val="008C83"/>
      </a:accent1>
      <a:accent2>
        <a:srgbClr val="50C8E8"/>
      </a:accent2>
      <a:accent3>
        <a:srgbClr val="1C809B"/>
      </a:accent3>
      <a:accent4>
        <a:srgbClr val="00A89A"/>
      </a:accent4>
      <a:accent5>
        <a:srgbClr val="E63329"/>
      </a:accent5>
      <a:accent6>
        <a:srgbClr val="6B7176"/>
      </a:accent6>
      <a:hlink>
        <a:srgbClr val="1C809B"/>
      </a:hlink>
      <a:folHlink>
        <a:srgbClr val="6B7176"/>
      </a:folHlink>
    </a:clrScheme>
    <a:fontScheme name="Validaide SkyCell WBS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3013</Words>
  <Application>Microsoft Macintosh PowerPoint</Application>
  <PresentationFormat>Widescreen</PresentationFormat>
  <Paragraphs>236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Courier New</vt:lpstr>
      <vt:lpstr>Validaide SkyCell WBSO</vt:lpstr>
      <vt:lpstr>WBSO at Validaide</vt:lpstr>
      <vt:lpstr>Welcome: why we are here</vt:lpstr>
      <vt:lpstr>What is WBSO</vt:lpstr>
      <vt:lpstr>The WBSO cycle and our obligations</vt:lpstr>
      <vt:lpstr>How Validaide uses WBSO</vt:lpstr>
      <vt:lpstr>Current project 2601: Lane intelligence</vt:lpstr>
      <vt:lpstr>How we used to report: manual timesheets</vt:lpstr>
      <vt:lpstr>How we report now: evidence from Jira</vt:lpstr>
      <vt:lpstr>Running the report: the monthly routine</vt:lpstr>
      <vt:lpstr>Results: January to September 2026</vt:lpstr>
      <vt:lpstr>What the numbers mean, and the owner’s calendar</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WBSO at Validaide: handover</dc:title>
  <dc:subject>WBSO handover</dc:subject>
  <dc:creator>Gianluigi Disconzi</dc:creator>
  <cp:lastModifiedBy>Gianluigi Disconzi</cp:lastModifiedBy>
  <cp:revision>4</cp:revision>
  <dcterms:created xsi:type="dcterms:W3CDTF">2026-10-13T14:39:05Z</dcterms:created>
  <dcterms:modified xsi:type="dcterms:W3CDTF">2026-10-13T14:54:52Z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d2ca032-9ac8-4dc9-861f-df622c0a28d5_Enabled">
    <vt:lpwstr>true</vt:lpwstr>
  </property>
  <property fmtid="{D5CDD505-2E9C-101B-9397-08002B2CF9AE}" pid="3" name="MSIP_Label_fd2ca032-9ac8-4dc9-861f-df622c0a28d5_SetDate">
    <vt:lpwstr>2026-10-13T14:46:09Z</vt:lpwstr>
  </property>
  <property fmtid="{D5CDD505-2E9C-101B-9397-08002B2CF9AE}" pid="4" name="MSIP_Label_fd2ca032-9ac8-4dc9-861f-df622c0a28d5_Method">
    <vt:lpwstr>Standard</vt:lpwstr>
  </property>
  <property fmtid="{D5CDD505-2E9C-101B-9397-08002B2CF9AE}" pid="5" name="MSIP_Label_fd2ca032-9ac8-4dc9-861f-df622c0a28d5_Name">
    <vt:lpwstr>Protected</vt:lpwstr>
  </property>
  <property fmtid="{D5CDD505-2E9C-101B-9397-08002B2CF9AE}" pid="6" name="MSIP_Label_fd2ca032-9ac8-4dc9-861f-df622c0a28d5_SiteId">
    <vt:lpwstr>8323ebd0-01f5-4d35-8f05-199e4a9752dd</vt:lpwstr>
  </property>
  <property fmtid="{D5CDD505-2E9C-101B-9397-08002B2CF9AE}" pid="7" name="MSIP_Label_fd2ca032-9ac8-4dc9-861f-df622c0a28d5_ActionId">
    <vt:lpwstr>0e0b7356-c5cf-4dae-85f5-213030d2866e</vt:lpwstr>
  </property>
  <property fmtid="{D5CDD505-2E9C-101B-9397-08002B2CF9AE}" pid="8" name="MSIP_Label_fd2ca032-9ac8-4dc9-861f-df622c0a28d5_ContentBits">
    <vt:lpwstr>2</vt:lpwstr>
  </property>
  <property fmtid="{D5CDD505-2E9C-101B-9397-08002B2CF9AE}" pid="9" name="MSIP_Label_fd2ca032-9ac8-4dc9-861f-df622c0a28d5_Tag">
    <vt:lpwstr>50, 3, 0, 1</vt:lpwstr>
  </property>
  <property fmtid="{D5CDD505-2E9C-101B-9397-08002B2CF9AE}" pid="10" name="ClassificationContentMarkingFooterLocations">
    <vt:lpwstr>Validaide SkyCell WBSO:3</vt:lpwstr>
  </property>
  <property fmtid="{D5CDD505-2E9C-101B-9397-08002B2CF9AE}" pid="11" name="ClassificationContentMarkingFooterText">
    <vt:lpwstr>Protected</vt:lpwstr>
  </property>
</Properties>
</file>